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4" d="100"/>
          <a:sy n="94" d="100"/>
        </p:scale>
        <p:origin x="1296"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0066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A3A5C"/>
          </a:solidFill>
          <a:ln w="12700">
            <a:solidFill>
              <a:srgbClr val="1A3A5C"/>
            </a:solidFill>
            <a:prstDash val="solid"/>
          </a:ln>
        </p:spPr>
      </p:sp>
      <p:sp>
        <p:nvSpPr>
          <p:cNvPr id="3" name="Shape 1"/>
          <p:cNvSpPr/>
          <p:nvPr/>
        </p:nvSpPr>
        <p:spPr>
          <a:xfrm>
            <a:off x="0" y="0"/>
            <a:ext cx="3200400" cy="73152"/>
          </a:xfrm>
          <a:prstGeom prst="rect">
            <a:avLst/>
          </a:prstGeom>
          <a:solidFill>
            <a:srgbClr val="0D9488"/>
          </a:solidFill>
          <a:ln w="12700">
            <a:solidFill>
              <a:srgbClr val="0D9488"/>
            </a:solidFill>
            <a:prstDash val="solid"/>
          </a:ln>
        </p:spPr>
      </p:sp>
      <p:sp>
        <p:nvSpPr>
          <p:cNvPr id="4" name="Shape 2"/>
          <p:cNvSpPr/>
          <p:nvPr/>
        </p:nvSpPr>
        <p:spPr>
          <a:xfrm>
            <a:off x="3200400" y="4754880"/>
            <a:ext cx="5943600" cy="73152"/>
          </a:xfrm>
          <a:prstGeom prst="rect">
            <a:avLst/>
          </a:prstGeom>
          <a:solidFill>
            <a:srgbClr val="00D4AA"/>
          </a:solidFill>
          <a:ln w="12700">
            <a:solidFill>
              <a:srgbClr val="00D4AA"/>
            </a:solidFill>
            <a:prstDash val="solid"/>
          </a:ln>
        </p:spPr>
      </p:sp>
      <p:sp>
        <p:nvSpPr>
          <p:cNvPr id="5" name="Text 3"/>
          <p:cNvSpPr/>
          <p:nvPr/>
        </p:nvSpPr>
        <p:spPr>
          <a:xfrm>
            <a:off x="-2447925" y="-296385"/>
            <a:ext cx="2286000" cy="5587584"/>
          </a:xfrm>
          <a:prstGeom prst="rect">
            <a:avLst/>
          </a:prstGeom>
          <a:noFill/>
          <a:ln/>
        </p:spPr>
        <p:txBody>
          <a:bodyPr wrap="square" rtlCol="0" anchor="ctr"/>
          <a:lstStyle/>
          <a:p>
            <a:pPr marL="0" indent="0" algn="ctr">
              <a:buNone/>
            </a:pPr>
            <a:endParaRPr lang="en-US" sz="8000" dirty="0"/>
          </a:p>
        </p:txBody>
      </p:sp>
      <p:sp>
        <p:nvSpPr>
          <p:cNvPr id="6" name="Text 4"/>
          <p:cNvSpPr/>
          <p:nvPr/>
        </p:nvSpPr>
        <p:spPr>
          <a:xfrm>
            <a:off x="3383280" y="640080"/>
            <a:ext cx="5486400" cy="91440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Detección de Tumores Cerebrales</a:t>
            </a:r>
            <a:endParaRPr lang="en-US" sz="2800" dirty="0"/>
          </a:p>
        </p:txBody>
      </p:sp>
      <p:sp>
        <p:nvSpPr>
          <p:cNvPr id="7" name="Text 5"/>
          <p:cNvSpPr/>
          <p:nvPr/>
        </p:nvSpPr>
        <p:spPr>
          <a:xfrm>
            <a:off x="3383280" y="1417320"/>
            <a:ext cx="5486400" cy="640080"/>
          </a:xfrm>
          <a:prstGeom prst="rect">
            <a:avLst/>
          </a:prstGeom>
          <a:noFill/>
          <a:ln/>
        </p:spPr>
        <p:txBody>
          <a:bodyPr wrap="square" rtlCol="0" anchor="ctr"/>
          <a:lstStyle/>
          <a:p>
            <a:pPr marL="0" indent="0">
              <a:buNone/>
            </a:pPr>
            <a:r>
              <a:rPr lang="en-US" sz="3200" b="1" dirty="0">
                <a:solidFill>
                  <a:srgbClr val="00D4AA"/>
                </a:solidFill>
                <a:latin typeface="Calibri" pitchFamily="34" charset="0"/>
                <a:ea typeface="Calibri" pitchFamily="34" charset="-122"/>
                <a:cs typeface="Calibri" pitchFamily="34" charset="-120"/>
              </a:rPr>
              <a:t>con YOLOv8</a:t>
            </a:r>
            <a:endParaRPr lang="en-US" sz="3200" dirty="0"/>
          </a:p>
        </p:txBody>
      </p:sp>
      <p:sp>
        <p:nvSpPr>
          <p:cNvPr id="8" name="Shape 6"/>
          <p:cNvSpPr/>
          <p:nvPr/>
        </p:nvSpPr>
        <p:spPr>
          <a:xfrm>
            <a:off x="3383280" y="2194560"/>
            <a:ext cx="5486400" cy="36576"/>
          </a:xfrm>
          <a:prstGeom prst="rect">
            <a:avLst/>
          </a:prstGeom>
          <a:solidFill>
            <a:srgbClr val="0D9488"/>
          </a:solidFill>
          <a:ln w="12700">
            <a:solidFill>
              <a:srgbClr val="0D9488"/>
            </a:solidFill>
            <a:prstDash val="solid"/>
          </a:ln>
        </p:spPr>
      </p:sp>
      <p:sp>
        <p:nvSpPr>
          <p:cNvPr id="9" name="Text 7"/>
          <p:cNvSpPr/>
          <p:nvPr/>
        </p:nvSpPr>
        <p:spPr>
          <a:xfrm>
            <a:off x="3362325" y="2737485"/>
            <a:ext cx="5486400" cy="411480"/>
          </a:xfrm>
          <a:prstGeom prst="rect">
            <a:avLst/>
          </a:prstGeom>
          <a:noFill/>
          <a:ln/>
        </p:spPr>
        <p:txBody>
          <a:bodyPr wrap="square" rtlCol="0" anchor="ctr"/>
          <a:lstStyle/>
          <a:p>
            <a:pPr marL="0" indent="0">
              <a:buNone/>
            </a:pPr>
            <a:r>
              <a:rPr lang="en-US" sz="2400" dirty="0">
                <a:solidFill>
                  <a:srgbClr val="A0C4E8"/>
                </a:solidFill>
                <a:latin typeface="Calibri" pitchFamily="34" charset="0"/>
                <a:ea typeface="Calibri" pitchFamily="34" charset="-122"/>
                <a:cs typeface="Calibri" pitchFamily="34" charset="-120"/>
              </a:rPr>
              <a:t>Proyecto Final </a:t>
            </a:r>
          </a:p>
          <a:p>
            <a:pPr marL="0" indent="0" algn="ctr">
              <a:buNone/>
            </a:pPr>
            <a:r>
              <a:rPr lang="en-US" sz="1500" dirty="0">
                <a:solidFill>
                  <a:srgbClr val="A0C4E8"/>
                </a:solidFill>
                <a:latin typeface="Calibri" pitchFamily="34" charset="0"/>
                <a:ea typeface="Calibri" pitchFamily="34" charset="-122"/>
                <a:cs typeface="Calibri" pitchFamily="34" charset="-120"/>
              </a:rPr>
              <a:t>Integrates:</a:t>
            </a:r>
          </a:p>
          <a:p>
            <a:pPr marL="0" indent="0" algn="ctr">
              <a:buNone/>
            </a:pPr>
            <a:r>
              <a:rPr lang="en-US" sz="1500" dirty="0">
                <a:solidFill>
                  <a:srgbClr val="A0C4E8"/>
                </a:solidFill>
                <a:latin typeface="Calibri" pitchFamily="34" charset="0"/>
                <a:ea typeface="Calibri" pitchFamily="34" charset="-122"/>
                <a:cs typeface="Calibri" pitchFamily="34" charset="-120"/>
              </a:rPr>
              <a:t>Moctezuma Mónico Sandra Bianey</a:t>
            </a:r>
          </a:p>
          <a:p>
            <a:pPr marL="0" indent="0" algn="ctr">
              <a:buNone/>
            </a:pPr>
            <a:r>
              <a:rPr lang="en-US" sz="1500" dirty="0">
                <a:solidFill>
                  <a:srgbClr val="A0C4E8"/>
                </a:solidFill>
                <a:latin typeface="Calibri" pitchFamily="34" charset="0"/>
                <a:ea typeface="Calibri" pitchFamily="34" charset="-122"/>
                <a:cs typeface="Calibri" pitchFamily="34" charset="-120"/>
              </a:rPr>
              <a:t>Morales Calvario Wendy Lizeth</a:t>
            </a:r>
          </a:p>
        </p:txBody>
      </p:sp>
      <p:sp>
        <p:nvSpPr>
          <p:cNvPr id="10" name="Shape 8"/>
          <p:cNvSpPr/>
          <p:nvPr/>
        </p:nvSpPr>
        <p:spPr>
          <a:xfrm>
            <a:off x="3362325" y="3755517"/>
            <a:ext cx="1280160" cy="347472"/>
          </a:xfrm>
          <a:prstGeom prst="roundRect">
            <a:avLst>
              <a:gd name="adj" fmla="val 21053"/>
            </a:avLst>
          </a:prstGeom>
          <a:solidFill>
            <a:srgbClr val="1E6FBF"/>
          </a:solidFill>
          <a:ln w="12700">
            <a:solidFill>
              <a:srgbClr val="1E6FBF"/>
            </a:solidFill>
            <a:prstDash val="solid"/>
          </a:ln>
        </p:spPr>
        <p:txBody>
          <a:bodyPr/>
          <a:lstStyle/>
          <a:p>
            <a:endParaRPr lang="es-MX" dirty="0"/>
          </a:p>
        </p:txBody>
      </p:sp>
      <p:sp>
        <p:nvSpPr>
          <p:cNvPr id="11" name="Text 9"/>
          <p:cNvSpPr/>
          <p:nvPr/>
        </p:nvSpPr>
        <p:spPr>
          <a:xfrm>
            <a:off x="3285744" y="3744087"/>
            <a:ext cx="1280160" cy="34747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YOLOv8</a:t>
            </a:r>
            <a:endParaRPr lang="en-US" sz="1000" dirty="0"/>
          </a:p>
        </p:txBody>
      </p:sp>
      <p:sp>
        <p:nvSpPr>
          <p:cNvPr id="12" name="Shape 10"/>
          <p:cNvSpPr/>
          <p:nvPr/>
        </p:nvSpPr>
        <p:spPr>
          <a:xfrm>
            <a:off x="4804410" y="3730752"/>
            <a:ext cx="1280160" cy="347472"/>
          </a:xfrm>
          <a:prstGeom prst="roundRect">
            <a:avLst>
              <a:gd name="adj" fmla="val 21053"/>
            </a:avLst>
          </a:prstGeom>
          <a:solidFill>
            <a:srgbClr val="1E6FBF"/>
          </a:solidFill>
          <a:ln w="12700">
            <a:solidFill>
              <a:srgbClr val="1E6FBF"/>
            </a:solidFill>
            <a:prstDash val="solid"/>
          </a:ln>
        </p:spPr>
      </p:sp>
      <p:sp>
        <p:nvSpPr>
          <p:cNvPr id="13" name="Text 11"/>
          <p:cNvSpPr/>
          <p:nvPr/>
        </p:nvSpPr>
        <p:spPr>
          <a:xfrm>
            <a:off x="4736592" y="3730752"/>
            <a:ext cx="1280160" cy="34747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Deep Learning</a:t>
            </a:r>
            <a:endParaRPr lang="en-US" sz="1000" dirty="0"/>
          </a:p>
        </p:txBody>
      </p:sp>
      <p:sp>
        <p:nvSpPr>
          <p:cNvPr id="14" name="Shape 12"/>
          <p:cNvSpPr/>
          <p:nvPr/>
        </p:nvSpPr>
        <p:spPr>
          <a:xfrm>
            <a:off x="6230811" y="3741420"/>
            <a:ext cx="1280160" cy="347472"/>
          </a:xfrm>
          <a:prstGeom prst="roundRect">
            <a:avLst>
              <a:gd name="adj" fmla="val 21053"/>
            </a:avLst>
          </a:prstGeom>
          <a:solidFill>
            <a:srgbClr val="1E6FBF"/>
          </a:solidFill>
          <a:ln w="12700">
            <a:solidFill>
              <a:srgbClr val="1E6FBF"/>
            </a:solidFill>
            <a:prstDash val="solid"/>
          </a:ln>
        </p:spPr>
      </p:sp>
      <p:sp>
        <p:nvSpPr>
          <p:cNvPr id="15" name="Text 13"/>
          <p:cNvSpPr/>
          <p:nvPr/>
        </p:nvSpPr>
        <p:spPr>
          <a:xfrm>
            <a:off x="6187440" y="3723132"/>
            <a:ext cx="1280160" cy="34747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Imágenes MRI</a:t>
            </a:r>
            <a:endParaRPr lang="en-US" sz="1000" dirty="0"/>
          </a:p>
        </p:txBody>
      </p:sp>
      <p:sp>
        <p:nvSpPr>
          <p:cNvPr id="17" name="Text 15"/>
          <p:cNvSpPr/>
          <p:nvPr/>
        </p:nvSpPr>
        <p:spPr>
          <a:xfrm>
            <a:off x="7552944" y="2880360"/>
            <a:ext cx="1280160" cy="347472"/>
          </a:xfrm>
          <a:prstGeom prst="rect">
            <a:avLst/>
          </a:prstGeom>
          <a:noFill/>
          <a:ln/>
        </p:spPr>
        <p:txBody>
          <a:bodyPr wrap="square" rtlCol="0" anchor="ctr"/>
          <a:lstStyle/>
          <a:p>
            <a:pPr marL="0" indent="0" algn="ctr">
              <a:buNone/>
            </a:pPr>
            <a:endParaRPr lang="en-US" sz="1000" dirty="0"/>
          </a:p>
        </p:txBody>
      </p:sp>
      <p:sp>
        <p:nvSpPr>
          <p:cNvPr id="18" name="Text 16"/>
          <p:cNvSpPr/>
          <p:nvPr/>
        </p:nvSpPr>
        <p:spPr>
          <a:xfrm>
            <a:off x="3383280" y="4480560"/>
            <a:ext cx="5486400" cy="365760"/>
          </a:xfrm>
          <a:prstGeom prst="rect">
            <a:avLst/>
          </a:prstGeom>
          <a:noFill/>
          <a:ln/>
        </p:spPr>
        <p:txBody>
          <a:bodyPr wrap="square" rtlCol="0" anchor="ctr"/>
          <a:lstStyle/>
          <a:p>
            <a:pPr marL="0" indent="0">
              <a:buNone/>
            </a:pPr>
            <a:endParaRPr lang="en-US" sz="1000" dirty="0"/>
          </a:p>
        </p:txBody>
      </p:sp>
      <p:pic>
        <p:nvPicPr>
          <p:cNvPr id="1026" name="Picture 2" descr="Una tecnología capaz de obtener imágenes precisas de tumores cerebrales  agresivos | IM Médico">
            <a:extLst>
              <a:ext uri="{FF2B5EF4-FFF2-40B4-BE49-F238E27FC236}">
                <a16:creationId xmlns:a16="http://schemas.microsoft.com/office/drawing/2014/main" id="{09950963-17DB-4D9D-96C1-4A5963EA71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8" y="494347"/>
            <a:ext cx="2619375" cy="426053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628"/>
          </a:solidFill>
          <a:ln w="12700">
            <a:solidFill>
              <a:srgbClr val="0A1628"/>
            </a:solidFill>
            <a:prstDash val="solid"/>
          </a:ln>
        </p:spPr>
      </p:sp>
      <p:sp>
        <p:nvSpPr>
          <p:cNvPr id="3" name="Text 1"/>
          <p:cNvSpPr/>
          <p:nvPr/>
        </p:nvSpPr>
        <p:spPr>
          <a:xfrm>
            <a:off x="274320" y="0"/>
            <a:ext cx="8595360" cy="8229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  Objetivo y Planteamiento del Problema</a:t>
            </a:r>
            <a:endParaRPr lang="en-US" sz="2000" dirty="0"/>
          </a:p>
        </p:txBody>
      </p:sp>
      <p:sp>
        <p:nvSpPr>
          <p:cNvPr id="4" name="Shape 2"/>
          <p:cNvSpPr/>
          <p:nvPr/>
        </p:nvSpPr>
        <p:spPr>
          <a:xfrm>
            <a:off x="274320" y="960120"/>
            <a:ext cx="4023360" cy="3474720"/>
          </a:xfrm>
          <a:prstGeom prst="rect">
            <a:avLst/>
          </a:prstGeom>
          <a:solidFill>
            <a:srgbClr val="F1F5F9"/>
          </a:solidFill>
          <a:ln w="12700">
            <a:solidFill>
              <a:srgbClr val="E2E8F0"/>
            </a:solidFill>
            <a:prstDash val="solid"/>
          </a:ln>
          <a:effectLst>
            <a:outerShdw blurRad="101600" dist="38100" dir="8100000" algn="bl" rotWithShape="0">
              <a:srgbClr val="000000">
                <a:alpha val="12000"/>
              </a:srgbClr>
            </a:outerShdw>
          </a:effectLst>
        </p:spPr>
      </p:sp>
      <p:sp>
        <p:nvSpPr>
          <p:cNvPr id="5" name="Shape 3"/>
          <p:cNvSpPr/>
          <p:nvPr/>
        </p:nvSpPr>
        <p:spPr>
          <a:xfrm>
            <a:off x="274320" y="960120"/>
            <a:ext cx="4023360" cy="502920"/>
          </a:xfrm>
          <a:prstGeom prst="rect">
            <a:avLst/>
          </a:prstGeom>
          <a:solidFill>
            <a:srgbClr val="E53E3E"/>
          </a:solidFill>
          <a:ln w="12700">
            <a:solidFill>
              <a:srgbClr val="E53E3E"/>
            </a:solidFill>
            <a:prstDash val="solid"/>
          </a:ln>
        </p:spPr>
      </p:sp>
      <p:sp>
        <p:nvSpPr>
          <p:cNvPr id="6" name="Text 4"/>
          <p:cNvSpPr/>
          <p:nvPr/>
        </p:nvSpPr>
        <p:spPr>
          <a:xfrm>
            <a:off x="320040" y="960120"/>
            <a:ext cx="3931920" cy="5029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El Planteamiento del Problema</a:t>
            </a:r>
            <a:endParaRPr lang="en-US" sz="1400" dirty="0"/>
          </a:p>
        </p:txBody>
      </p:sp>
      <p:sp>
        <p:nvSpPr>
          <p:cNvPr id="7" name="Text 5"/>
          <p:cNvSpPr/>
          <p:nvPr/>
        </p:nvSpPr>
        <p:spPr>
          <a:xfrm>
            <a:off x="411480" y="1554480"/>
            <a:ext cx="3840480" cy="2743200"/>
          </a:xfrm>
          <a:prstGeom prst="rect">
            <a:avLst/>
          </a:prstGeom>
          <a:noFill/>
          <a:ln/>
        </p:spPr>
        <p:txBody>
          <a:bodyPr wrap="square" rtlCol="0" anchor="t"/>
          <a:lstStyle/>
          <a:p>
            <a:pPr marL="0" indent="0">
              <a:buNone/>
            </a:pPr>
            <a:r>
              <a:rPr lang="en-US" sz="1200" dirty="0">
                <a:solidFill>
                  <a:srgbClr val="334155"/>
                </a:solidFill>
                <a:latin typeface="Calibri" pitchFamily="34" charset="0"/>
                <a:ea typeface="Calibri" pitchFamily="34" charset="-122"/>
                <a:cs typeface="Calibri" pitchFamily="34" charset="-120"/>
              </a:rPr>
              <a:t>El diagnóstico de tumores cerebrales es un proceso complejo y tardado que depende de la experiencia del médico radiólogo.</a:t>
            </a:r>
            <a:endParaRPr lang="en-US" sz="1200" dirty="0"/>
          </a:p>
          <a:p>
            <a:pPr marL="0" indent="0">
              <a:buNone/>
            </a:pP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Un error o retraso puede tener consecuencias graves para el paciente.</a:t>
            </a:r>
            <a:endParaRPr lang="en-US" sz="1200" dirty="0"/>
          </a:p>
          <a:p>
            <a:pPr marL="0" indent="0">
              <a:buNone/>
            </a:pPr>
            <a:endParaRPr lang="en-US" sz="1200" dirty="0"/>
          </a:p>
          <a:p>
            <a:pPr marL="0" indent="0">
              <a:buNone/>
            </a:pPr>
            <a:endParaRPr lang="en-US" sz="1200" dirty="0"/>
          </a:p>
          <a:p>
            <a:pPr marL="0" indent="0">
              <a:buNone/>
            </a:pPr>
            <a:r>
              <a:rPr lang="en-US" sz="1200" b="1" dirty="0">
                <a:solidFill>
                  <a:srgbClr val="334155"/>
                </a:solidFill>
                <a:latin typeface="Calibri" pitchFamily="34" charset="0"/>
                <a:ea typeface="Calibri" pitchFamily="34" charset="-122"/>
                <a:cs typeface="Calibri" pitchFamily="34" charset="-120"/>
              </a:rPr>
              <a:t>Problemas actuales:</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Proceso lento y costoso</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Depende 100% del experto</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Escasez de radiólogos</a:t>
            </a:r>
            <a:endParaRPr lang="en-US" sz="1200" dirty="0"/>
          </a:p>
          <a:p>
            <a:pPr marL="0" indent="0">
              <a:buNone/>
            </a:pPr>
            <a:endParaRPr lang="en-US" sz="1200" dirty="0"/>
          </a:p>
        </p:txBody>
      </p:sp>
      <p:sp>
        <p:nvSpPr>
          <p:cNvPr id="8" name="Shape 6"/>
          <p:cNvSpPr/>
          <p:nvPr/>
        </p:nvSpPr>
        <p:spPr>
          <a:xfrm>
            <a:off x="4846320" y="960120"/>
            <a:ext cx="4023360" cy="3474720"/>
          </a:xfrm>
          <a:prstGeom prst="rect">
            <a:avLst/>
          </a:prstGeom>
          <a:solidFill>
            <a:srgbClr val="F1F5F9"/>
          </a:solidFill>
          <a:ln w="12700">
            <a:solidFill>
              <a:srgbClr val="E2E8F0"/>
            </a:solidFill>
            <a:prstDash val="solid"/>
          </a:ln>
          <a:effectLst>
            <a:outerShdw blurRad="101600" dist="38100" dir="8100000" algn="bl" rotWithShape="0">
              <a:srgbClr val="000000">
                <a:alpha val="12000"/>
              </a:srgbClr>
            </a:outerShdw>
          </a:effectLst>
        </p:spPr>
      </p:sp>
      <p:sp>
        <p:nvSpPr>
          <p:cNvPr id="9" name="Shape 7"/>
          <p:cNvSpPr/>
          <p:nvPr/>
        </p:nvSpPr>
        <p:spPr>
          <a:xfrm>
            <a:off x="4846320" y="960120"/>
            <a:ext cx="4023360" cy="502920"/>
          </a:xfrm>
          <a:prstGeom prst="rect">
            <a:avLst/>
          </a:prstGeom>
          <a:solidFill>
            <a:srgbClr val="0D9488"/>
          </a:solidFill>
          <a:ln w="12700">
            <a:solidFill>
              <a:srgbClr val="0D9488"/>
            </a:solidFill>
            <a:prstDash val="solid"/>
          </a:ln>
        </p:spPr>
      </p:sp>
      <p:sp>
        <p:nvSpPr>
          <p:cNvPr id="10" name="Text 8"/>
          <p:cNvSpPr/>
          <p:nvPr/>
        </p:nvSpPr>
        <p:spPr>
          <a:xfrm>
            <a:off x="4892040" y="960120"/>
            <a:ext cx="3931920" cy="5029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Objetivo General</a:t>
            </a:r>
            <a:endParaRPr lang="en-US" sz="1400" dirty="0"/>
          </a:p>
        </p:txBody>
      </p:sp>
      <p:sp>
        <p:nvSpPr>
          <p:cNvPr id="11" name="Text 9"/>
          <p:cNvSpPr/>
          <p:nvPr/>
        </p:nvSpPr>
        <p:spPr>
          <a:xfrm>
            <a:off x="4983480" y="1554480"/>
            <a:ext cx="3840480" cy="2743200"/>
          </a:xfrm>
          <a:prstGeom prst="rect">
            <a:avLst/>
          </a:prstGeom>
          <a:noFill/>
          <a:ln/>
        </p:spPr>
        <p:txBody>
          <a:bodyPr wrap="square" rtlCol="0" anchor="t"/>
          <a:lstStyle/>
          <a:p>
            <a:pPr marL="0" indent="0">
              <a:buNone/>
            </a:pPr>
            <a:r>
              <a:rPr lang="en-US" sz="1200" dirty="0">
                <a:solidFill>
                  <a:srgbClr val="334155"/>
                </a:solidFill>
                <a:latin typeface="Calibri" pitchFamily="34" charset="0"/>
                <a:ea typeface="Calibri" pitchFamily="34" charset="-122"/>
                <a:cs typeface="Calibri" pitchFamily="34" charset="-120"/>
              </a:rPr>
              <a:t>Desarrollar un modelo de IA con YOLOv8 capaz de detectar tumores cerebrales en imágenes MRI, para usarse como herramienta de apoyo médico.</a:t>
            </a:r>
            <a:endParaRPr lang="en-US" sz="1200" dirty="0"/>
          </a:p>
          <a:p>
            <a:pPr marL="0" indent="0">
              <a:buNone/>
            </a:pPr>
            <a:endParaRPr lang="en-US" sz="1200" dirty="0"/>
          </a:p>
          <a:p>
            <a:pPr marL="0" indent="0">
              <a:buNone/>
            </a:pPr>
            <a:endParaRPr lang="en-US" sz="1200" dirty="0"/>
          </a:p>
          <a:p>
            <a:pPr marL="0" indent="0">
              <a:buNone/>
            </a:pPr>
            <a:r>
              <a:rPr lang="en-US" sz="1200" b="1" dirty="0">
                <a:solidFill>
                  <a:srgbClr val="334155"/>
                </a:solidFill>
                <a:latin typeface="Calibri" pitchFamily="34" charset="0"/>
                <a:ea typeface="Calibri" pitchFamily="34" charset="-122"/>
                <a:cs typeface="Calibri" pitchFamily="34" charset="-120"/>
              </a:rPr>
              <a:t>¿Para qué sirve?</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Apoyo al diagnóstico médico</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Segunda opinión automatizada</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Detección temprana de tumores</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Zonas sin especialistas médicos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628"/>
          </a:solidFill>
          <a:ln w="12700">
            <a:solidFill>
              <a:srgbClr val="0A1628"/>
            </a:solidFill>
            <a:prstDash val="solid"/>
          </a:ln>
        </p:spPr>
      </p:sp>
      <p:sp>
        <p:nvSpPr>
          <p:cNvPr id="3" name="Text 1"/>
          <p:cNvSpPr/>
          <p:nvPr/>
        </p:nvSpPr>
        <p:spPr>
          <a:xfrm>
            <a:off x="274320" y="0"/>
            <a:ext cx="8595360" cy="8229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 Dataset y Etiquetado</a:t>
            </a:r>
            <a:endParaRPr lang="en-US" sz="2000" dirty="0"/>
          </a:p>
        </p:txBody>
      </p:sp>
      <p:sp>
        <p:nvSpPr>
          <p:cNvPr id="4" name="Shape 2"/>
          <p:cNvSpPr/>
          <p:nvPr/>
        </p:nvSpPr>
        <p:spPr>
          <a:xfrm>
            <a:off x="274320" y="914400"/>
            <a:ext cx="2651760" cy="1280160"/>
          </a:xfrm>
          <a:prstGeom prst="rect">
            <a:avLst/>
          </a:prstGeom>
          <a:solidFill>
            <a:srgbClr val="1E6FBF"/>
          </a:solidFill>
          <a:ln w="12700">
            <a:solidFill>
              <a:srgbClr val="1E6FBF"/>
            </a:solidFill>
            <a:prstDash val="solid"/>
          </a:ln>
          <a:effectLst>
            <a:outerShdw blurRad="101600" dist="38100" dir="8100000" algn="bl" rotWithShape="0">
              <a:srgbClr val="000000">
                <a:alpha val="12000"/>
              </a:srgbClr>
            </a:outerShdw>
          </a:effectLst>
        </p:spPr>
      </p:sp>
      <p:sp>
        <p:nvSpPr>
          <p:cNvPr id="5" name="Text 3"/>
          <p:cNvSpPr/>
          <p:nvPr/>
        </p:nvSpPr>
        <p:spPr>
          <a:xfrm>
            <a:off x="274320" y="914400"/>
            <a:ext cx="2651760" cy="73152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878</a:t>
            </a:r>
            <a:endParaRPr lang="en-US" sz="3200" dirty="0"/>
          </a:p>
        </p:txBody>
      </p:sp>
      <p:sp>
        <p:nvSpPr>
          <p:cNvPr id="6" name="Text 4"/>
          <p:cNvSpPr/>
          <p:nvPr/>
        </p:nvSpPr>
        <p:spPr>
          <a:xfrm>
            <a:off x="274320" y="1600200"/>
            <a:ext cx="2651760" cy="5943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Imágenes</a:t>
            </a:r>
          </a:p>
          <a:p>
            <a:pPr marL="0" indent="0" algn="ctr">
              <a:buNone/>
            </a:pPr>
            <a:r>
              <a:rPr lang="en-US" sz="1100" dirty="0">
                <a:solidFill>
                  <a:srgbClr val="FFFFFF"/>
                </a:solidFill>
                <a:latin typeface="Calibri" pitchFamily="34" charset="0"/>
                <a:ea typeface="Calibri" pitchFamily="34" charset="-122"/>
                <a:cs typeface="Calibri" pitchFamily="34" charset="-120"/>
              </a:rPr>
              <a:t>anotadas</a:t>
            </a:r>
            <a:endParaRPr lang="en-US" sz="1100" dirty="0"/>
          </a:p>
        </p:txBody>
      </p:sp>
      <p:sp>
        <p:nvSpPr>
          <p:cNvPr id="7" name="Shape 5"/>
          <p:cNvSpPr/>
          <p:nvPr/>
        </p:nvSpPr>
        <p:spPr>
          <a:xfrm>
            <a:off x="3200400" y="914400"/>
            <a:ext cx="2651760" cy="1280160"/>
          </a:xfrm>
          <a:prstGeom prst="rect">
            <a:avLst/>
          </a:prstGeom>
          <a:solidFill>
            <a:srgbClr val="0D9488"/>
          </a:solidFill>
          <a:ln w="12700">
            <a:solidFill>
              <a:srgbClr val="0D9488"/>
            </a:solidFill>
            <a:prstDash val="solid"/>
          </a:ln>
          <a:effectLst>
            <a:outerShdw blurRad="101600" dist="38100" dir="8100000" algn="bl" rotWithShape="0">
              <a:srgbClr val="000000">
                <a:alpha val="12000"/>
              </a:srgbClr>
            </a:outerShdw>
          </a:effectLst>
        </p:spPr>
      </p:sp>
      <p:sp>
        <p:nvSpPr>
          <p:cNvPr id="8" name="Text 6"/>
          <p:cNvSpPr/>
          <p:nvPr/>
        </p:nvSpPr>
        <p:spPr>
          <a:xfrm>
            <a:off x="3200400" y="914400"/>
            <a:ext cx="2651760" cy="73152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2</a:t>
            </a:r>
            <a:endParaRPr lang="en-US" sz="3200" dirty="0"/>
          </a:p>
        </p:txBody>
      </p:sp>
      <p:sp>
        <p:nvSpPr>
          <p:cNvPr id="9" name="Text 7"/>
          <p:cNvSpPr/>
          <p:nvPr/>
        </p:nvSpPr>
        <p:spPr>
          <a:xfrm>
            <a:off x="3200400" y="1600200"/>
            <a:ext cx="2651760" cy="5943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Clases a</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detectar</a:t>
            </a:r>
            <a:endParaRPr lang="en-US" sz="1100" dirty="0"/>
          </a:p>
        </p:txBody>
      </p:sp>
      <p:sp>
        <p:nvSpPr>
          <p:cNvPr id="10" name="Shape 8"/>
          <p:cNvSpPr/>
          <p:nvPr/>
        </p:nvSpPr>
        <p:spPr>
          <a:xfrm>
            <a:off x="6126480" y="914400"/>
            <a:ext cx="2651760" cy="1280160"/>
          </a:xfrm>
          <a:prstGeom prst="rect">
            <a:avLst/>
          </a:prstGeom>
          <a:solidFill>
            <a:srgbClr val="7C3AED"/>
          </a:solidFill>
          <a:ln w="12700">
            <a:solidFill>
              <a:srgbClr val="7C3AED"/>
            </a:solidFill>
            <a:prstDash val="solid"/>
          </a:ln>
          <a:effectLst>
            <a:outerShdw blurRad="101600" dist="38100" dir="8100000" algn="bl" rotWithShape="0">
              <a:srgbClr val="000000">
                <a:alpha val="12000"/>
              </a:srgbClr>
            </a:outerShdw>
          </a:effectLst>
        </p:spPr>
      </p:sp>
      <p:sp>
        <p:nvSpPr>
          <p:cNvPr id="11" name="Text 9"/>
          <p:cNvSpPr/>
          <p:nvPr/>
        </p:nvSpPr>
        <p:spPr>
          <a:xfrm>
            <a:off x="6126480" y="914400"/>
            <a:ext cx="2651760" cy="73152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70/20/10</a:t>
            </a:r>
            <a:endParaRPr lang="en-US" sz="3200" dirty="0"/>
          </a:p>
        </p:txBody>
      </p:sp>
      <p:sp>
        <p:nvSpPr>
          <p:cNvPr id="12" name="Text 10"/>
          <p:cNvSpPr/>
          <p:nvPr/>
        </p:nvSpPr>
        <p:spPr>
          <a:xfrm>
            <a:off x="6126480" y="1600200"/>
            <a:ext cx="2651760" cy="5943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Train / Val</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 Test %</a:t>
            </a:r>
            <a:endParaRPr lang="en-US" sz="1100" dirty="0"/>
          </a:p>
        </p:txBody>
      </p:sp>
      <p:sp>
        <p:nvSpPr>
          <p:cNvPr id="13" name="Shape 11"/>
          <p:cNvSpPr/>
          <p:nvPr/>
        </p:nvSpPr>
        <p:spPr>
          <a:xfrm>
            <a:off x="274320" y="2377440"/>
            <a:ext cx="8595360" cy="2468880"/>
          </a:xfrm>
          <a:prstGeom prst="rect">
            <a:avLst/>
          </a:prstGeom>
          <a:solidFill>
            <a:srgbClr val="F1F5F9"/>
          </a:solidFill>
          <a:ln w="12700">
            <a:solidFill>
              <a:srgbClr val="E2E8F0"/>
            </a:solidFill>
            <a:prstDash val="solid"/>
          </a:ln>
          <a:effectLst>
            <a:outerShdw blurRad="101600" dist="38100" dir="8100000" algn="bl" rotWithShape="0">
              <a:srgbClr val="000000">
                <a:alpha val="12000"/>
              </a:srgbClr>
            </a:outerShdw>
          </a:effectLst>
        </p:spPr>
      </p:sp>
      <p:sp>
        <p:nvSpPr>
          <p:cNvPr id="14" name="Shape 12"/>
          <p:cNvSpPr/>
          <p:nvPr/>
        </p:nvSpPr>
        <p:spPr>
          <a:xfrm>
            <a:off x="274320" y="2468880"/>
            <a:ext cx="8595360" cy="384048"/>
          </a:xfrm>
          <a:prstGeom prst="rect">
            <a:avLst/>
          </a:prstGeom>
          <a:solidFill>
            <a:srgbClr val="E8F0FE"/>
          </a:solidFill>
          <a:ln w="12700">
            <a:solidFill>
              <a:srgbClr val="E8F0FE"/>
            </a:solidFill>
            <a:prstDash val="solid"/>
          </a:ln>
        </p:spPr>
      </p:sp>
      <p:sp>
        <p:nvSpPr>
          <p:cNvPr id="15" name="Text 13"/>
          <p:cNvSpPr/>
          <p:nvPr/>
        </p:nvSpPr>
        <p:spPr>
          <a:xfrm>
            <a:off x="411480" y="2468880"/>
            <a:ext cx="1463040" cy="384048"/>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 Nombre</a:t>
            </a:r>
            <a:endParaRPr lang="en-US" sz="1100" dirty="0"/>
          </a:p>
        </p:txBody>
      </p:sp>
      <p:sp>
        <p:nvSpPr>
          <p:cNvPr id="16" name="Text 14"/>
          <p:cNvSpPr/>
          <p:nvPr/>
        </p:nvSpPr>
        <p:spPr>
          <a:xfrm>
            <a:off x="1920240" y="2468880"/>
            <a:ext cx="6766560" cy="384048"/>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Brain Tumor Detection Dataset</a:t>
            </a:r>
            <a:endParaRPr lang="en-US" sz="1100" dirty="0"/>
          </a:p>
        </p:txBody>
      </p:sp>
      <p:sp>
        <p:nvSpPr>
          <p:cNvPr id="17" name="Text 15"/>
          <p:cNvSpPr/>
          <p:nvPr/>
        </p:nvSpPr>
        <p:spPr>
          <a:xfrm>
            <a:off x="411480" y="2852928"/>
            <a:ext cx="1463040" cy="384048"/>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Fuente</a:t>
            </a:r>
            <a:endParaRPr lang="en-US" sz="1100" dirty="0"/>
          </a:p>
        </p:txBody>
      </p:sp>
      <p:sp>
        <p:nvSpPr>
          <p:cNvPr id="18" name="Text 16"/>
          <p:cNvSpPr/>
          <p:nvPr/>
        </p:nvSpPr>
        <p:spPr>
          <a:xfrm>
            <a:off x="1920240" y="2852928"/>
            <a:ext cx="6766560" cy="384048"/>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Kaggle — Ultralytics (ultralytics/brain-tumor)</a:t>
            </a:r>
            <a:endParaRPr lang="en-US" sz="1100" dirty="0"/>
          </a:p>
        </p:txBody>
      </p:sp>
      <p:sp>
        <p:nvSpPr>
          <p:cNvPr id="19" name="Shape 17"/>
          <p:cNvSpPr/>
          <p:nvPr/>
        </p:nvSpPr>
        <p:spPr>
          <a:xfrm>
            <a:off x="274320" y="3236976"/>
            <a:ext cx="8595360" cy="384048"/>
          </a:xfrm>
          <a:prstGeom prst="rect">
            <a:avLst/>
          </a:prstGeom>
          <a:solidFill>
            <a:srgbClr val="E8F0FE"/>
          </a:solidFill>
          <a:ln w="12700">
            <a:solidFill>
              <a:srgbClr val="E8F0FE"/>
            </a:solidFill>
            <a:prstDash val="solid"/>
          </a:ln>
        </p:spPr>
      </p:sp>
      <p:sp>
        <p:nvSpPr>
          <p:cNvPr id="20" name="Text 18"/>
          <p:cNvSpPr/>
          <p:nvPr/>
        </p:nvSpPr>
        <p:spPr>
          <a:xfrm>
            <a:off x="411480" y="3236976"/>
            <a:ext cx="1463040" cy="384048"/>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Formato</a:t>
            </a:r>
            <a:endParaRPr lang="en-US" sz="1100" dirty="0"/>
          </a:p>
        </p:txBody>
      </p:sp>
      <p:sp>
        <p:nvSpPr>
          <p:cNvPr id="21" name="Text 19"/>
          <p:cNvSpPr/>
          <p:nvPr/>
        </p:nvSpPr>
        <p:spPr>
          <a:xfrm>
            <a:off x="1920240" y="3236976"/>
            <a:ext cx="6766560" cy="384048"/>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YOLOv8 — imágenes .jpg + etiquetas .txt con bounding boxes</a:t>
            </a:r>
            <a:endParaRPr lang="en-US" sz="1100" dirty="0"/>
          </a:p>
        </p:txBody>
      </p:sp>
      <p:sp>
        <p:nvSpPr>
          <p:cNvPr id="22" name="Text 20"/>
          <p:cNvSpPr/>
          <p:nvPr/>
        </p:nvSpPr>
        <p:spPr>
          <a:xfrm>
            <a:off x="411480" y="3621024"/>
            <a:ext cx="1463040" cy="384048"/>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 Clase 0</a:t>
            </a:r>
            <a:endParaRPr lang="en-US" sz="1100" dirty="0"/>
          </a:p>
        </p:txBody>
      </p:sp>
      <p:sp>
        <p:nvSpPr>
          <p:cNvPr id="23" name="Text 21"/>
          <p:cNvSpPr/>
          <p:nvPr/>
        </p:nvSpPr>
        <p:spPr>
          <a:xfrm>
            <a:off x="1920240" y="3621024"/>
            <a:ext cx="6766560" cy="384048"/>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negative — imagen MRI sin tumor cerebral</a:t>
            </a:r>
            <a:endParaRPr lang="en-US" sz="1100" dirty="0"/>
          </a:p>
        </p:txBody>
      </p:sp>
      <p:sp>
        <p:nvSpPr>
          <p:cNvPr id="24" name="Shape 22"/>
          <p:cNvSpPr/>
          <p:nvPr/>
        </p:nvSpPr>
        <p:spPr>
          <a:xfrm>
            <a:off x="274320" y="4005072"/>
            <a:ext cx="8595360" cy="384048"/>
          </a:xfrm>
          <a:prstGeom prst="rect">
            <a:avLst/>
          </a:prstGeom>
          <a:solidFill>
            <a:srgbClr val="E8F0FE"/>
          </a:solidFill>
          <a:ln w="12700">
            <a:solidFill>
              <a:srgbClr val="E8F0FE"/>
            </a:solidFill>
            <a:prstDash val="solid"/>
          </a:ln>
        </p:spPr>
      </p:sp>
      <p:sp>
        <p:nvSpPr>
          <p:cNvPr id="25" name="Text 23"/>
          <p:cNvSpPr/>
          <p:nvPr/>
        </p:nvSpPr>
        <p:spPr>
          <a:xfrm>
            <a:off x="411480" y="4005072"/>
            <a:ext cx="1463040" cy="384048"/>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Clase 1</a:t>
            </a:r>
            <a:endParaRPr lang="en-US" sz="1100" dirty="0"/>
          </a:p>
        </p:txBody>
      </p:sp>
      <p:sp>
        <p:nvSpPr>
          <p:cNvPr id="26" name="Text 24"/>
          <p:cNvSpPr/>
          <p:nvPr/>
        </p:nvSpPr>
        <p:spPr>
          <a:xfrm>
            <a:off x="1920240" y="4005072"/>
            <a:ext cx="6766560" cy="384048"/>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positive — imagen MRI con tumor cerebral presente</a:t>
            </a:r>
            <a:endParaRPr lang="en-US" sz="1100" dirty="0"/>
          </a:p>
        </p:txBody>
      </p:sp>
      <p:sp>
        <p:nvSpPr>
          <p:cNvPr id="27" name="Text 25"/>
          <p:cNvSpPr/>
          <p:nvPr/>
        </p:nvSpPr>
        <p:spPr>
          <a:xfrm>
            <a:off x="411480" y="4389120"/>
            <a:ext cx="1463040" cy="384048"/>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 Limpieza</a:t>
            </a:r>
            <a:endParaRPr lang="en-US" sz="1100" dirty="0"/>
          </a:p>
        </p:txBody>
      </p:sp>
      <p:sp>
        <p:nvSpPr>
          <p:cNvPr id="28" name="Text 26"/>
          <p:cNvSpPr/>
          <p:nvPr/>
        </p:nvSpPr>
        <p:spPr>
          <a:xfrm>
            <a:off x="1920240" y="4389120"/>
            <a:ext cx="6766560" cy="384048"/>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Ya venía  etiquetado. No se requirió limpieza adicional.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628"/>
          </a:solidFill>
          <a:ln w="12700">
            <a:solidFill>
              <a:srgbClr val="0A1628"/>
            </a:solidFill>
            <a:prstDash val="solid"/>
          </a:ln>
        </p:spPr>
      </p:sp>
      <p:sp>
        <p:nvSpPr>
          <p:cNvPr id="3" name="Text 1"/>
          <p:cNvSpPr/>
          <p:nvPr/>
        </p:nvSpPr>
        <p:spPr>
          <a:xfrm>
            <a:off x="274320" y="0"/>
            <a:ext cx="8595360" cy="8229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  Entrenamiento del Modelo YOLOv8</a:t>
            </a:r>
            <a:endParaRPr lang="en-US" sz="2000" dirty="0"/>
          </a:p>
        </p:txBody>
      </p:sp>
      <p:sp>
        <p:nvSpPr>
          <p:cNvPr id="4" name="Shape 2"/>
          <p:cNvSpPr/>
          <p:nvPr/>
        </p:nvSpPr>
        <p:spPr>
          <a:xfrm>
            <a:off x="274320" y="960120"/>
            <a:ext cx="2651760" cy="2743200"/>
          </a:xfrm>
          <a:prstGeom prst="rect">
            <a:avLst/>
          </a:prstGeom>
          <a:solidFill>
            <a:srgbClr val="F1F5F9"/>
          </a:solidFill>
          <a:ln w="12700">
            <a:solidFill>
              <a:srgbClr val="E2E8F0"/>
            </a:solidFill>
            <a:prstDash val="solid"/>
          </a:ln>
          <a:effectLst>
            <a:outerShdw blurRad="101600" dist="38100" dir="8100000" algn="bl" rotWithShape="0">
              <a:srgbClr val="000000">
                <a:alpha val="12000"/>
              </a:srgbClr>
            </a:outerShdw>
          </a:effectLst>
        </p:spPr>
      </p:sp>
      <p:sp>
        <p:nvSpPr>
          <p:cNvPr id="5" name="Shape 3"/>
          <p:cNvSpPr/>
          <p:nvPr/>
        </p:nvSpPr>
        <p:spPr>
          <a:xfrm>
            <a:off x="274320" y="960120"/>
            <a:ext cx="2651760" cy="594360"/>
          </a:xfrm>
          <a:prstGeom prst="rect">
            <a:avLst/>
          </a:prstGeom>
          <a:solidFill>
            <a:srgbClr val="0D9488"/>
          </a:solidFill>
          <a:ln w="12700">
            <a:solidFill>
              <a:srgbClr val="0D9488"/>
            </a:solidFill>
            <a:prstDash val="solid"/>
          </a:ln>
        </p:spPr>
      </p:sp>
      <p:sp>
        <p:nvSpPr>
          <p:cNvPr id="6" name="Text 4"/>
          <p:cNvSpPr/>
          <p:nvPr/>
        </p:nvSpPr>
        <p:spPr>
          <a:xfrm>
            <a:off x="274320" y="960120"/>
            <a:ext cx="2651760" cy="5943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  YOLOv8n</a:t>
            </a:r>
            <a:endParaRPr lang="en-US" sz="1500" dirty="0"/>
          </a:p>
        </p:txBody>
      </p:sp>
      <p:sp>
        <p:nvSpPr>
          <p:cNvPr id="7" name="Text 5"/>
          <p:cNvSpPr/>
          <p:nvPr/>
        </p:nvSpPr>
        <p:spPr>
          <a:xfrm>
            <a:off x="274320" y="1600200"/>
            <a:ext cx="2651760" cy="365760"/>
          </a:xfrm>
          <a:prstGeom prst="rect">
            <a:avLst/>
          </a:prstGeom>
          <a:noFill/>
          <a:ln/>
        </p:spPr>
        <p:txBody>
          <a:bodyPr wrap="square"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NANO</a:t>
            </a:r>
            <a:endParaRPr lang="en-US" sz="1100" dirty="0"/>
          </a:p>
        </p:txBody>
      </p:sp>
      <p:sp>
        <p:nvSpPr>
          <p:cNvPr id="8" name="Text 6"/>
          <p:cNvSpPr/>
          <p:nvPr/>
        </p:nvSpPr>
        <p:spPr>
          <a:xfrm>
            <a:off x="411480" y="1965960"/>
            <a:ext cx="2377440" cy="1463040"/>
          </a:xfrm>
          <a:prstGeom prst="rect">
            <a:avLst/>
          </a:prstGeom>
          <a:noFill/>
          <a:ln/>
        </p:spPr>
        <p:txBody>
          <a:bodyPr wrap="square" rtlCol="0" anchor="t"/>
          <a:lstStyle/>
          <a:p>
            <a:pPr marL="0" indent="0">
              <a:buNone/>
            </a:pPr>
            <a:r>
              <a:rPr lang="en-US" sz="1100" b="1" dirty="0">
                <a:solidFill>
                  <a:srgbClr val="0D9488"/>
                </a:solidFill>
                <a:latin typeface="Calibri" pitchFamily="34" charset="0"/>
              </a:rPr>
              <a:t>“n” = nano (pequeño)</a:t>
            </a:r>
            <a:endParaRPr lang="en-US" sz="1100" dirty="0"/>
          </a:p>
          <a:p>
            <a:pPr marL="0" indent="0">
              <a:buNone/>
            </a:pPr>
            <a:r>
              <a:rPr lang="en-US" sz="1100" dirty="0">
                <a:solidFill>
                  <a:srgbClr val="475569"/>
                </a:solidFill>
                <a:latin typeface="Calibri" pitchFamily="34" charset="0"/>
              </a:rPr>
              <a:t>El más pequeño y rápido. Ideal cuando necesitas velocidad y usas pocos recursos.</a:t>
            </a:r>
            <a:endParaRPr lang="en-US" sz="1100" dirty="0"/>
          </a:p>
        </p:txBody>
      </p:sp>
      <p:sp>
        <p:nvSpPr>
          <p:cNvPr id="9" name="Shape 7"/>
          <p:cNvSpPr/>
          <p:nvPr/>
        </p:nvSpPr>
        <p:spPr>
          <a:xfrm>
            <a:off x="3200400" y="960120"/>
            <a:ext cx="2651760" cy="2743200"/>
          </a:xfrm>
          <a:prstGeom prst="rect">
            <a:avLst/>
          </a:prstGeom>
          <a:solidFill>
            <a:srgbClr val="F1F5F9"/>
          </a:solidFill>
          <a:ln w="12700">
            <a:solidFill>
              <a:srgbClr val="E2E8F0"/>
            </a:solidFill>
            <a:prstDash val="solid"/>
          </a:ln>
          <a:effectLst>
            <a:outerShdw blurRad="101600" dist="38100" dir="8100000" algn="bl" rotWithShape="0">
              <a:srgbClr val="000000">
                <a:alpha val="12000"/>
              </a:srgbClr>
            </a:outerShdw>
          </a:effectLst>
        </p:spPr>
      </p:sp>
      <p:sp>
        <p:nvSpPr>
          <p:cNvPr id="10" name="Shape 8"/>
          <p:cNvSpPr/>
          <p:nvPr/>
        </p:nvSpPr>
        <p:spPr>
          <a:xfrm>
            <a:off x="3200400" y="960120"/>
            <a:ext cx="2651760" cy="594360"/>
          </a:xfrm>
          <a:prstGeom prst="rect">
            <a:avLst/>
          </a:prstGeom>
          <a:solidFill>
            <a:srgbClr val="1E6FBF"/>
          </a:solidFill>
          <a:ln w="12700">
            <a:solidFill>
              <a:srgbClr val="1E6FBF"/>
            </a:solidFill>
            <a:prstDash val="solid"/>
          </a:ln>
        </p:spPr>
      </p:sp>
      <p:sp>
        <p:nvSpPr>
          <p:cNvPr id="11" name="Text 9"/>
          <p:cNvSpPr/>
          <p:nvPr/>
        </p:nvSpPr>
        <p:spPr>
          <a:xfrm>
            <a:off x="3200400" y="960120"/>
            <a:ext cx="2651760" cy="5943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  YOLOv8s</a:t>
            </a:r>
            <a:endParaRPr lang="en-US" sz="1500" dirty="0"/>
          </a:p>
        </p:txBody>
      </p:sp>
      <p:sp>
        <p:nvSpPr>
          <p:cNvPr id="12" name="Text 10"/>
          <p:cNvSpPr/>
          <p:nvPr/>
        </p:nvSpPr>
        <p:spPr>
          <a:xfrm>
            <a:off x="3200400" y="1600200"/>
            <a:ext cx="2651760" cy="365760"/>
          </a:xfrm>
          <a:prstGeom prst="rect">
            <a:avLst/>
          </a:prstGeom>
          <a:noFill/>
          <a:ln/>
        </p:spPr>
        <p:txBody>
          <a:bodyPr wrap="square" rtlCol="0" anchor="ctr"/>
          <a:lstStyle/>
          <a:p>
            <a:pPr marL="0" indent="0" algn="ctr">
              <a:buNone/>
            </a:pPr>
            <a:r>
              <a:rPr lang="en-US" sz="1100" b="1" dirty="0">
                <a:solidFill>
                  <a:srgbClr val="1E6FBF"/>
                </a:solidFill>
                <a:latin typeface="Calibri" pitchFamily="34" charset="0"/>
                <a:ea typeface="Calibri" pitchFamily="34" charset="-122"/>
                <a:cs typeface="Calibri" pitchFamily="34" charset="-120"/>
              </a:rPr>
              <a:t>SMALL</a:t>
            </a:r>
            <a:endParaRPr lang="en-US" sz="1100" dirty="0"/>
          </a:p>
        </p:txBody>
      </p:sp>
      <p:sp>
        <p:nvSpPr>
          <p:cNvPr id="13" name="Text 11"/>
          <p:cNvSpPr/>
          <p:nvPr/>
        </p:nvSpPr>
        <p:spPr>
          <a:xfrm>
            <a:off x="3337560" y="1965960"/>
            <a:ext cx="2377440" cy="1463040"/>
          </a:xfrm>
          <a:prstGeom prst="rect">
            <a:avLst/>
          </a:prstGeom>
          <a:noFill/>
          <a:ln/>
        </p:spPr>
        <p:txBody>
          <a:bodyPr wrap="square" rtlCol="0" anchor="t"/>
          <a:lstStyle/>
          <a:p>
            <a:pPr marL="0" indent="0">
              <a:buNone/>
            </a:pPr>
            <a:r>
              <a:rPr lang="en-US" sz="1100" b="1" dirty="0">
                <a:solidFill>
                  <a:srgbClr val="1E6FBF"/>
                </a:solidFill>
                <a:latin typeface="Calibri" pitchFamily="34" charset="0"/>
              </a:rPr>
              <a:t>“s” = small (pequeño)</a:t>
            </a:r>
            <a:endParaRPr lang="en-US" sz="1100" dirty="0"/>
          </a:p>
          <a:p>
            <a:pPr marL="0" indent="0">
              <a:buNone/>
            </a:pPr>
            <a:r>
              <a:rPr lang="en-US" sz="1100" dirty="0">
                <a:solidFill>
                  <a:srgbClr val="475569"/>
                </a:solidFill>
                <a:latin typeface="Calibri" pitchFamily="34" charset="0"/>
              </a:rPr>
              <a:t>Tamaño medio. Buen balance entre velocidad y precisión. El ganador en este proyecto.</a:t>
            </a:r>
            <a:endParaRPr lang="en-US" sz="1100" dirty="0"/>
          </a:p>
        </p:txBody>
      </p:sp>
      <p:sp>
        <p:nvSpPr>
          <p:cNvPr id="14" name="Shape 12"/>
          <p:cNvSpPr/>
          <p:nvPr/>
        </p:nvSpPr>
        <p:spPr>
          <a:xfrm>
            <a:off x="6126480" y="960120"/>
            <a:ext cx="2651760" cy="2743200"/>
          </a:xfrm>
          <a:prstGeom prst="rect">
            <a:avLst/>
          </a:prstGeom>
          <a:solidFill>
            <a:srgbClr val="F1F5F9"/>
          </a:solidFill>
          <a:ln w="12700">
            <a:solidFill>
              <a:srgbClr val="E2E8F0"/>
            </a:solidFill>
            <a:prstDash val="solid"/>
          </a:ln>
          <a:effectLst>
            <a:outerShdw blurRad="101600" dist="38100" dir="8100000" algn="bl" rotWithShape="0">
              <a:srgbClr val="000000">
                <a:alpha val="12000"/>
              </a:srgbClr>
            </a:outerShdw>
          </a:effectLst>
        </p:spPr>
      </p:sp>
      <p:sp>
        <p:nvSpPr>
          <p:cNvPr id="15" name="Shape 13"/>
          <p:cNvSpPr/>
          <p:nvPr/>
        </p:nvSpPr>
        <p:spPr>
          <a:xfrm>
            <a:off x="6126480" y="960120"/>
            <a:ext cx="2651760" cy="594360"/>
          </a:xfrm>
          <a:prstGeom prst="rect">
            <a:avLst/>
          </a:prstGeom>
          <a:solidFill>
            <a:srgbClr val="7C3AED"/>
          </a:solidFill>
          <a:ln w="12700">
            <a:solidFill>
              <a:srgbClr val="7C3AED"/>
            </a:solidFill>
            <a:prstDash val="solid"/>
          </a:ln>
        </p:spPr>
      </p:sp>
      <p:sp>
        <p:nvSpPr>
          <p:cNvPr id="16" name="Text 14"/>
          <p:cNvSpPr/>
          <p:nvPr/>
        </p:nvSpPr>
        <p:spPr>
          <a:xfrm>
            <a:off x="6126480" y="960120"/>
            <a:ext cx="2651760" cy="5943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 YOLOv8m</a:t>
            </a:r>
            <a:endParaRPr lang="en-US" sz="1500" dirty="0"/>
          </a:p>
        </p:txBody>
      </p:sp>
      <p:sp>
        <p:nvSpPr>
          <p:cNvPr id="17" name="Text 15"/>
          <p:cNvSpPr/>
          <p:nvPr/>
        </p:nvSpPr>
        <p:spPr>
          <a:xfrm>
            <a:off x="6126480" y="1600200"/>
            <a:ext cx="2651760" cy="365760"/>
          </a:xfrm>
          <a:prstGeom prst="rect">
            <a:avLst/>
          </a:prstGeom>
          <a:noFill/>
          <a:ln/>
        </p:spPr>
        <p:txBody>
          <a:bodyPr wrap="square" rtlCol="0" anchor="ctr"/>
          <a:lstStyle/>
          <a:p>
            <a:pPr marL="0" indent="0" algn="ctr">
              <a:buNone/>
            </a:pPr>
            <a:r>
              <a:rPr lang="en-US" sz="1100" b="1" dirty="0">
                <a:solidFill>
                  <a:srgbClr val="7C3AED"/>
                </a:solidFill>
                <a:latin typeface="Calibri" pitchFamily="34" charset="0"/>
                <a:ea typeface="Calibri" pitchFamily="34" charset="-122"/>
                <a:cs typeface="Calibri" pitchFamily="34" charset="-120"/>
              </a:rPr>
              <a:t>MEDIUM</a:t>
            </a:r>
            <a:endParaRPr lang="en-US" sz="1100" dirty="0"/>
          </a:p>
        </p:txBody>
      </p:sp>
      <p:sp>
        <p:nvSpPr>
          <p:cNvPr id="18" name="Text 16"/>
          <p:cNvSpPr/>
          <p:nvPr/>
        </p:nvSpPr>
        <p:spPr>
          <a:xfrm>
            <a:off x="6263640" y="1965960"/>
            <a:ext cx="2377440" cy="1463040"/>
          </a:xfrm>
          <a:prstGeom prst="rect">
            <a:avLst/>
          </a:prstGeom>
          <a:noFill/>
          <a:ln/>
        </p:spPr>
        <p:txBody>
          <a:bodyPr wrap="square" rtlCol="0" anchor="t"/>
          <a:lstStyle/>
          <a:p>
            <a:pPr marL="0" indent="0">
              <a:buNone/>
            </a:pPr>
            <a:r>
              <a:rPr lang="en-US" sz="1100" b="1" dirty="0">
                <a:solidFill>
                  <a:srgbClr val="7C3AED"/>
                </a:solidFill>
                <a:latin typeface="Calibri" pitchFamily="34" charset="0"/>
              </a:rPr>
              <a:t>“m” = medium (mediano)</a:t>
            </a:r>
            <a:endParaRPr lang="en-US" sz="1100" dirty="0"/>
          </a:p>
          <a:p>
            <a:pPr marL="0" indent="0">
              <a:buNone/>
            </a:pPr>
            <a:r>
              <a:rPr lang="en-US" sz="1100" dirty="0">
                <a:solidFill>
                  <a:srgbClr val="475569"/>
                </a:solidFill>
                <a:latin typeface="Calibri" pitchFamily="34" charset="0"/>
              </a:rPr>
              <a:t>El más grande. Mayor capacidad pero más lento. Necesita más datos para rendir bien.</a:t>
            </a:r>
            <a:endParaRPr lang="en-US" sz="1100" dirty="0"/>
          </a:p>
        </p:txBody>
      </p:sp>
      <p:sp>
        <p:nvSpPr>
          <p:cNvPr id="19" name="Shape 17"/>
          <p:cNvSpPr/>
          <p:nvPr/>
        </p:nvSpPr>
        <p:spPr>
          <a:xfrm>
            <a:off x="274320" y="3840480"/>
            <a:ext cx="8595360" cy="1005840"/>
          </a:xfrm>
          <a:prstGeom prst="rect">
            <a:avLst/>
          </a:prstGeom>
          <a:solidFill>
            <a:srgbClr val="1A3A5C"/>
          </a:solidFill>
          <a:ln w="12700">
            <a:solidFill>
              <a:srgbClr val="1A3A5C"/>
            </a:solidFill>
            <a:prstDash val="solid"/>
          </a:ln>
          <a:effectLst>
            <a:outerShdw blurRad="101600" dist="38100" dir="8100000" algn="bl" rotWithShape="0">
              <a:srgbClr val="000000">
                <a:alpha val="12000"/>
              </a:srgbClr>
            </a:outerShdw>
          </a:effectLst>
        </p:spPr>
      </p:sp>
      <p:sp>
        <p:nvSpPr>
          <p:cNvPr id="20" name="Text 18"/>
          <p:cNvSpPr/>
          <p:nvPr/>
        </p:nvSpPr>
        <p:spPr>
          <a:xfrm>
            <a:off x="457200" y="3858768"/>
            <a:ext cx="8229600" cy="36576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  Hiperparámetros usados en los 3 modelos:</a:t>
            </a:r>
            <a:endParaRPr lang="en-US" sz="1300" dirty="0"/>
          </a:p>
        </p:txBody>
      </p:sp>
      <p:sp>
        <p:nvSpPr>
          <p:cNvPr id="21" name="Text 19"/>
          <p:cNvSpPr/>
          <p:nvPr/>
        </p:nvSpPr>
        <p:spPr>
          <a:xfrm>
            <a:off x="457200" y="4224528"/>
            <a:ext cx="8229600" cy="50292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Epochs: 50   |    Batch: 16   |    Tamaño imagen: 640×640 px   |    GPU:  T4 (Google Colab)</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628"/>
          </a:solidFill>
          <a:ln w="12700">
            <a:solidFill>
              <a:srgbClr val="0A1628"/>
            </a:solidFill>
            <a:prstDash val="solid"/>
          </a:ln>
        </p:spPr>
      </p:sp>
      <p:sp>
        <p:nvSpPr>
          <p:cNvPr id="3" name="Text 1"/>
          <p:cNvSpPr/>
          <p:nvPr/>
        </p:nvSpPr>
        <p:spPr>
          <a:xfrm>
            <a:off x="274320" y="0"/>
            <a:ext cx="8595360" cy="8229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  Métricas y Resultados Comparativos</a:t>
            </a:r>
            <a:endParaRPr lang="en-US" sz="2000" dirty="0"/>
          </a:p>
        </p:txBody>
      </p:sp>
      <p:sp>
        <p:nvSpPr>
          <p:cNvPr id="4" name="Shape 2"/>
          <p:cNvSpPr/>
          <p:nvPr/>
        </p:nvSpPr>
        <p:spPr>
          <a:xfrm>
            <a:off x="182880" y="914400"/>
            <a:ext cx="2148840" cy="457200"/>
          </a:xfrm>
          <a:prstGeom prst="rect">
            <a:avLst/>
          </a:prstGeom>
          <a:solidFill>
            <a:srgbClr val="1A3A5C"/>
          </a:solidFill>
          <a:ln w="12700">
            <a:solidFill>
              <a:srgbClr val="1A3A5C"/>
            </a:solidFill>
            <a:prstDash val="solid"/>
          </a:ln>
        </p:spPr>
      </p:sp>
      <p:sp>
        <p:nvSpPr>
          <p:cNvPr id="5" name="Text 3"/>
          <p:cNvSpPr/>
          <p:nvPr/>
        </p:nvSpPr>
        <p:spPr>
          <a:xfrm>
            <a:off x="182880" y="914400"/>
            <a:ext cx="214884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Métrica</a:t>
            </a:r>
            <a:endParaRPr lang="en-US" sz="1100" dirty="0"/>
          </a:p>
        </p:txBody>
      </p:sp>
      <p:sp>
        <p:nvSpPr>
          <p:cNvPr id="6" name="Shape 4"/>
          <p:cNvSpPr/>
          <p:nvPr/>
        </p:nvSpPr>
        <p:spPr>
          <a:xfrm>
            <a:off x="2377440" y="914400"/>
            <a:ext cx="2148840" cy="457200"/>
          </a:xfrm>
          <a:prstGeom prst="rect">
            <a:avLst/>
          </a:prstGeom>
          <a:solidFill>
            <a:srgbClr val="1A3A5C"/>
          </a:solidFill>
          <a:ln w="12700">
            <a:solidFill>
              <a:srgbClr val="1A3A5C"/>
            </a:solidFill>
            <a:prstDash val="solid"/>
          </a:ln>
        </p:spPr>
      </p:sp>
      <p:sp>
        <p:nvSpPr>
          <p:cNvPr id="7" name="Text 5"/>
          <p:cNvSpPr/>
          <p:nvPr/>
        </p:nvSpPr>
        <p:spPr>
          <a:xfrm>
            <a:off x="2377440" y="914400"/>
            <a:ext cx="214884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YOLOv8n (Nano)</a:t>
            </a:r>
            <a:endParaRPr lang="en-US" sz="1100" dirty="0"/>
          </a:p>
        </p:txBody>
      </p:sp>
      <p:sp>
        <p:nvSpPr>
          <p:cNvPr id="8" name="Shape 6"/>
          <p:cNvSpPr/>
          <p:nvPr/>
        </p:nvSpPr>
        <p:spPr>
          <a:xfrm>
            <a:off x="4572000" y="914400"/>
            <a:ext cx="2148840" cy="457200"/>
          </a:xfrm>
          <a:prstGeom prst="rect">
            <a:avLst/>
          </a:prstGeom>
          <a:solidFill>
            <a:srgbClr val="1A3A5C"/>
          </a:solidFill>
          <a:ln w="12700">
            <a:solidFill>
              <a:srgbClr val="1A3A5C"/>
            </a:solidFill>
            <a:prstDash val="solid"/>
          </a:ln>
        </p:spPr>
      </p:sp>
      <p:sp>
        <p:nvSpPr>
          <p:cNvPr id="9" name="Text 7"/>
          <p:cNvSpPr/>
          <p:nvPr/>
        </p:nvSpPr>
        <p:spPr>
          <a:xfrm>
            <a:off x="4572000" y="914400"/>
            <a:ext cx="214884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YOLOv8s (Small)</a:t>
            </a:r>
            <a:endParaRPr lang="en-US" sz="1100" dirty="0"/>
          </a:p>
        </p:txBody>
      </p:sp>
      <p:sp>
        <p:nvSpPr>
          <p:cNvPr id="10" name="Shape 8"/>
          <p:cNvSpPr/>
          <p:nvPr/>
        </p:nvSpPr>
        <p:spPr>
          <a:xfrm>
            <a:off x="6766560" y="914400"/>
            <a:ext cx="2148840" cy="457200"/>
          </a:xfrm>
          <a:prstGeom prst="rect">
            <a:avLst/>
          </a:prstGeom>
          <a:solidFill>
            <a:srgbClr val="1A3A5C"/>
          </a:solidFill>
          <a:ln w="12700">
            <a:solidFill>
              <a:srgbClr val="1A3A5C"/>
            </a:solidFill>
            <a:prstDash val="solid"/>
          </a:ln>
        </p:spPr>
      </p:sp>
      <p:sp>
        <p:nvSpPr>
          <p:cNvPr id="11" name="Text 9"/>
          <p:cNvSpPr/>
          <p:nvPr/>
        </p:nvSpPr>
        <p:spPr>
          <a:xfrm>
            <a:off x="6766560" y="914400"/>
            <a:ext cx="214884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YOLOv8m (Medium)</a:t>
            </a:r>
            <a:endParaRPr lang="en-US" sz="1100" dirty="0"/>
          </a:p>
        </p:txBody>
      </p:sp>
      <p:sp>
        <p:nvSpPr>
          <p:cNvPr id="12" name="Shape 10"/>
          <p:cNvSpPr/>
          <p:nvPr/>
        </p:nvSpPr>
        <p:spPr>
          <a:xfrm>
            <a:off x="182880" y="1389888"/>
            <a:ext cx="2148840" cy="457200"/>
          </a:xfrm>
          <a:prstGeom prst="rect">
            <a:avLst/>
          </a:prstGeom>
          <a:solidFill>
            <a:srgbClr val="EFF6FF"/>
          </a:solidFill>
          <a:ln w="12700">
            <a:solidFill>
              <a:srgbClr val="E2E8F0"/>
            </a:solidFill>
            <a:prstDash val="solid"/>
          </a:ln>
        </p:spPr>
      </p:sp>
      <p:sp>
        <p:nvSpPr>
          <p:cNvPr id="13" name="Text 11"/>
          <p:cNvSpPr/>
          <p:nvPr/>
        </p:nvSpPr>
        <p:spPr>
          <a:xfrm>
            <a:off x="182880" y="1389888"/>
            <a:ext cx="2148840" cy="457200"/>
          </a:xfrm>
          <a:prstGeom prst="rect">
            <a:avLst/>
          </a:prstGeom>
          <a:noFill/>
          <a:ln/>
        </p:spPr>
        <p:txBody>
          <a:bodyPr wrap="square" rtlCol="0" anchor="ctr"/>
          <a:lstStyle/>
          <a:p>
            <a:pPr marL="0" indent="0" algn="ctr">
              <a:buNone/>
            </a:pPr>
            <a:r>
              <a:rPr lang="en-US" sz="1100" b="1" dirty="0">
                <a:solidFill>
                  <a:srgbClr val="1A3A5C"/>
                </a:solidFill>
                <a:latin typeface="Calibri" pitchFamily="34" charset="0"/>
                <a:ea typeface="Calibri" pitchFamily="34" charset="-122"/>
                <a:cs typeface="Calibri" pitchFamily="34" charset="-120"/>
              </a:rPr>
              <a:t>mAP@50</a:t>
            </a:r>
            <a:endParaRPr lang="en-US" sz="1100" dirty="0"/>
          </a:p>
        </p:txBody>
      </p:sp>
      <p:sp>
        <p:nvSpPr>
          <p:cNvPr id="14" name="Shape 12"/>
          <p:cNvSpPr/>
          <p:nvPr/>
        </p:nvSpPr>
        <p:spPr>
          <a:xfrm>
            <a:off x="2377440" y="1389888"/>
            <a:ext cx="2148840" cy="457200"/>
          </a:xfrm>
          <a:prstGeom prst="rect">
            <a:avLst/>
          </a:prstGeom>
          <a:solidFill>
            <a:srgbClr val="EFF6FF"/>
          </a:solidFill>
          <a:ln w="12700">
            <a:solidFill>
              <a:srgbClr val="E2E8F0"/>
            </a:solidFill>
            <a:prstDash val="solid"/>
          </a:ln>
        </p:spPr>
      </p:sp>
      <p:sp>
        <p:nvSpPr>
          <p:cNvPr id="15" name="Text 13"/>
          <p:cNvSpPr/>
          <p:nvPr/>
        </p:nvSpPr>
        <p:spPr>
          <a:xfrm>
            <a:off x="2377440" y="1389888"/>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0.709  (71%)</a:t>
            </a:r>
            <a:endParaRPr lang="en-US" sz="1200" dirty="0"/>
          </a:p>
        </p:txBody>
      </p:sp>
      <p:sp>
        <p:nvSpPr>
          <p:cNvPr id="16" name="Shape 14"/>
          <p:cNvSpPr/>
          <p:nvPr/>
        </p:nvSpPr>
        <p:spPr>
          <a:xfrm>
            <a:off x="4572000" y="1389888"/>
            <a:ext cx="2148840" cy="457200"/>
          </a:xfrm>
          <a:prstGeom prst="rect">
            <a:avLst/>
          </a:prstGeom>
          <a:solidFill>
            <a:srgbClr val="EFF6FF"/>
          </a:solidFill>
          <a:ln w="12700">
            <a:solidFill>
              <a:srgbClr val="E2E8F0"/>
            </a:solidFill>
            <a:prstDash val="solid"/>
          </a:ln>
        </p:spPr>
      </p:sp>
      <p:sp>
        <p:nvSpPr>
          <p:cNvPr id="17" name="Text 15"/>
          <p:cNvSpPr/>
          <p:nvPr/>
        </p:nvSpPr>
        <p:spPr>
          <a:xfrm>
            <a:off x="4572000" y="1389888"/>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0.721  (72%) </a:t>
            </a:r>
            <a:endParaRPr lang="en-US" sz="1200" dirty="0"/>
          </a:p>
        </p:txBody>
      </p:sp>
      <p:sp>
        <p:nvSpPr>
          <p:cNvPr id="18" name="Shape 16"/>
          <p:cNvSpPr/>
          <p:nvPr/>
        </p:nvSpPr>
        <p:spPr>
          <a:xfrm>
            <a:off x="6766560" y="1389888"/>
            <a:ext cx="2148840" cy="457200"/>
          </a:xfrm>
          <a:prstGeom prst="rect">
            <a:avLst/>
          </a:prstGeom>
          <a:solidFill>
            <a:srgbClr val="EFF6FF"/>
          </a:solidFill>
          <a:ln w="12700">
            <a:solidFill>
              <a:srgbClr val="E2E8F0"/>
            </a:solidFill>
            <a:prstDash val="solid"/>
          </a:ln>
        </p:spPr>
      </p:sp>
      <p:sp>
        <p:nvSpPr>
          <p:cNvPr id="19" name="Text 17"/>
          <p:cNvSpPr/>
          <p:nvPr/>
        </p:nvSpPr>
        <p:spPr>
          <a:xfrm>
            <a:off x="6766560" y="1389888"/>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0.577  (58%)</a:t>
            </a:r>
            <a:endParaRPr lang="en-US" sz="1200" dirty="0"/>
          </a:p>
        </p:txBody>
      </p:sp>
      <p:sp>
        <p:nvSpPr>
          <p:cNvPr id="20" name="Shape 18"/>
          <p:cNvSpPr/>
          <p:nvPr/>
        </p:nvSpPr>
        <p:spPr>
          <a:xfrm>
            <a:off x="182880" y="1865376"/>
            <a:ext cx="2148840" cy="457200"/>
          </a:xfrm>
          <a:prstGeom prst="rect">
            <a:avLst/>
          </a:prstGeom>
          <a:solidFill>
            <a:srgbClr val="FFFFFF"/>
          </a:solidFill>
          <a:ln w="12700">
            <a:solidFill>
              <a:srgbClr val="E2E8F0"/>
            </a:solidFill>
            <a:prstDash val="solid"/>
          </a:ln>
        </p:spPr>
      </p:sp>
      <p:sp>
        <p:nvSpPr>
          <p:cNvPr id="21" name="Text 19"/>
          <p:cNvSpPr/>
          <p:nvPr/>
        </p:nvSpPr>
        <p:spPr>
          <a:xfrm>
            <a:off x="182880" y="1865376"/>
            <a:ext cx="2148840" cy="457200"/>
          </a:xfrm>
          <a:prstGeom prst="rect">
            <a:avLst/>
          </a:prstGeom>
          <a:noFill/>
          <a:ln/>
        </p:spPr>
        <p:txBody>
          <a:bodyPr wrap="square" rtlCol="0" anchor="ctr"/>
          <a:lstStyle/>
          <a:p>
            <a:pPr marL="0" indent="0" algn="ctr">
              <a:buNone/>
            </a:pPr>
            <a:r>
              <a:rPr lang="en-US" sz="1100" b="1" dirty="0">
                <a:solidFill>
                  <a:srgbClr val="1A3A5C"/>
                </a:solidFill>
                <a:latin typeface="Calibri" pitchFamily="34" charset="0"/>
                <a:ea typeface="Calibri" pitchFamily="34" charset="-122"/>
                <a:cs typeface="Calibri" pitchFamily="34" charset="-120"/>
              </a:rPr>
              <a:t>Precisión máx.</a:t>
            </a:r>
            <a:endParaRPr lang="en-US" sz="1100" dirty="0"/>
          </a:p>
        </p:txBody>
      </p:sp>
      <p:sp>
        <p:nvSpPr>
          <p:cNvPr id="22" name="Shape 20"/>
          <p:cNvSpPr/>
          <p:nvPr/>
        </p:nvSpPr>
        <p:spPr>
          <a:xfrm>
            <a:off x="2377440" y="1865376"/>
            <a:ext cx="2148840" cy="457200"/>
          </a:xfrm>
          <a:prstGeom prst="rect">
            <a:avLst/>
          </a:prstGeom>
          <a:solidFill>
            <a:srgbClr val="FFFFFF"/>
          </a:solidFill>
          <a:ln w="12700">
            <a:solidFill>
              <a:srgbClr val="E2E8F0"/>
            </a:solidFill>
            <a:prstDash val="solid"/>
          </a:ln>
        </p:spPr>
      </p:sp>
      <p:sp>
        <p:nvSpPr>
          <p:cNvPr id="23" name="Text 21"/>
          <p:cNvSpPr/>
          <p:nvPr/>
        </p:nvSpPr>
        <p:spPr>
          <a:xfrm>
            <a:off x="2377440" y="1865376"/>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0.97  (97%)</a:t>
            </a:r>
            <a:endParaRPr lang="en-US" sz="1200" dirty="0"/>
          </a:p>
        </p:txBody>
      </p:sp>
      <p:sp>
        <p:nvSpPr>
          <p:cNvPr id="24" name="Shape 22"/>
          <p:cNvSpPr/>
          <p:nvPr/>
        </p:nvSpPr>
        <p:spPr>
          <a:xfrm>
            <a:off x="4572000" y="1865376"/>
            <a:ext cx="2148840" cy="457200"/>
          </a:xfrm>
          <a:prstGeom prst="rect">
            <a:avLst/>
          </a:prstGeom>
          <a:solidFill>
            <a:srgbClr val="FFFFFF"/>
          </a:solidFill>
          <a:ln w="12700">
            <a:solidFill>
              <a:srgbClr val="E2E8F0"/>
            </a:solidFill>
            <a:prstDash val="solid"/>
          </a:ln>
        </p:spPr>
      </p:sp>
      <p:sp>
        <p:nvSpPr>
          <p:cNvPr id="25" name="Text 23"/>
          <p:cNvSpPr/>
          <p:nvPr/>
        </p:nvSpPr>
        <p:spPr>
          <a:xfrm>
            <a:off x="4572000" y="1865376"/>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1.00  (100%) </a:t>
            </a:r>
            <a:endParaRPr lang="en-US" sz="1200" dirty="0"/>
          </a:p>
        </p:txBody>
      </p:sp>
      <p:sp>
        <p:nvSpPr>
          <p:cNvPr id="26" name="Shape 24"/>
          <p:cNvSpPr/>
          <p:nvPr/>
        </p:nvSpPr>
        <p:spPr>
          <a:xfrm>
            <a:off x="6766560" y="1865376"/>
            <a:ext cx="2148840" cy="457200"/>
          </a:xfrm>
          <a:prstGeom prst="rect">
            <a:avLst/>
          </a:prstGeom>
          <a:solidFill>
            <a:srgbClr val="FFFFFF"/>
          </a:solidFill>
          <a:ln w="12700">
            <a:solidFill>
              <a:srgbClr val="E2E8F0"/>
            </a:solidFill>
            <a:prstDash val="solid"/>
          </a:ln>
        </p:spPr>
      </p:sp>
      <p:sp>
        <p:nvSpPr>
          <p:cNvPr id="27" name="Text 25"/>
          <p:cNvSpPr/>
          <p:nvPr/>
        </p:nvSpPr>
        <p:spPr>
          <a:xfrm>
            <a:off x="6766560" y="1865376"/>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1.00  (100%) </a:t>
            </a:r>
            <a:endParaRPr lang="en-US" sz="1200" dirty="0"/>
          </a:p>
        </p:txBody>
      </p:sp>
      <p:sp>
        <p:nvSpPr>
          <p:cNvPr id="28" name="Shape 26"/>
          <p:cNvSpPr/>
          <p:nvPr/>
        </p:nvSpPr>
        <p:spPr>
          <a:xfrm>
            <a:off x="182880" y="2340864"/>
            <a:ext cx="2148840" cy="457200"/>
          </a:xfrm>
          <a:prstGeom prst="rect">
            <a:avLst/>
          </a:prstGeom>
          <a:solidFill>
            <a:srgbClr val="EFF6FF"/>
          </a:solidFill>
          <a:ln w="12700">
            <a:solidFill>
              <a:srgbClr val="E2E8F0"/>
            </a:solidFill>
            <a:prstDash val="solid"/>
          </a:ln>
        </p:spPr>
      </p:sp>
      <p:sp>
        <p:nvSpPr>
          <p:cNvPr id="29" name="Text 27"/>
          <p:cNvSpPr/>
          <p:nvPr/>
        </p:nvSpPr>
        <p:spPr>
          <a:xfrm>
            <a:off x="182880" y="2340864"/>
            <a:ext cx="2148840" cy="457200"/>
          </a:xfrm>
          <a:prstGeom prst="rect">
            <a:avLst/>
          </a:prstGeom>
          <a:noFill/>
          <a:ln/>
        </p:spPr>
        <p:txBody>
          <a:bodyPr wrap="square" rtlCol="0" anchor="ctr"/>
          <a:lstStyle/>
          <a:p>
            <a:pPr marL="0" indent="0" algn="ctr">
              <a:buNone/>
            </a:pPr>
            <a:r>
              <a:rPr lang="en-US" sz="1100" b="1" dirty="0">
                <a:solidFill>
                  <a:srgbClr val="1A3A5C"/>
                </a:solidFill>
                <a:latin typeface="Calibri" pitchFamily="34" charset="0"/>
                <a:ea typeface="Calibri" pitchFamily="34" charset="-122"/>
                <a:cs typeface="Calibri" pitchFamily="34" charset="-120"/>
              </a:rPr>
              <a:t>Recall máx.</a:t>
            </a:r>
            <a:endParaRPr lang="en-US" sz="1100" dirty="0"/>
          </a:p>
        </p:txBody>
      </p:sp>
      <p:sp>
        <p:nvSpPr>
          <p:cNvPr id="30" name="Shape 28"/>
          <p:cNvSpPr/>
          <p:nvPr/>
        </p:nvSpPr>
        <p:spPr>
          <a:xfrm>
            <a:off x="2377440" y="2340864"/>
            <a:ext cx="2148840" cy="457200"/>
          </a:xfrm>
          <a:prstGeom prst="rect">
            <a:avLst/>
          </a:prstGeom>
          <a:solidFill>
            <a:srgbClr val="EFF6FF"/>
          </a:solidFill>
          <a:ln w="12700">
            <a:solidFill>
              <a:srgbClr val="E2E8F0"/>
            </a:solidFill>
            <a:prstDash val="solid"/>
          </a:ln>
        </p:spPr>
      </p:sp>
      <p:sp>
        <p:nvSpPr>
          <p:cNvPr id="31" name="Text 29"/>
          <p:cNvSpPr/>
          <p:nvPr/>
        </p:nvSpPr>
        <p:spPr>
          <a:xfrm>
            <a:off x="2377440" y="2340864"/>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0.97  (97%)</a:t>
            </a:r>
            <a:endParaRPr lang="en-US" sz="1200" dirty="0"/>
          </a:p>
        </p:txBody>
      </p:sp>
      <p:sp>
        <p:nvSpPr>
          <p:cNvPr id="32" name="Shape 30"/>
          <p:cNvSpPr/>
          <p:nvPr/>
        </p:nvSpPr>
        <p:spPr>
          <a:xfrm>
            <a:off x="4572000" y="2340864"/>
            <a:ext cx="2148840" cy="457200"/>
          </a:xfrm>
          <a:prstGeom prst="rect">
            <a:avLst/>
          </a:prstGeom>
          <a:solidFill>
            <a:srgbClr val="EFF6FF"/>
          </a:solidFill>
          <a:ln w="12700">
            <a:solidFill>
              <a:srgbClr val="E2E8F0"/>
            </a:solidFill>
            <a:prstDash val="solid"/>
          </a:ln>
        </p:spPr>
      </p:sp>
      <p:sp>
        <p:nvSpPr>
          <p:cNvPr id="33" name="Text 31"/>
          <p:cNvSpPr/>
          <p:nvPr/>
        </p:nvSpPr>
        <p:spPr>
          <a:xfrm>
            <a:off x="4572000" y="2340864"/>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0.98  (98%) </a:t>
            </a:r>
            <a:endParaRPr lang="en-US" sz="1200" dirty="0"/>
          </a:p>
        </p:txBody>
      </p:sp>
      <p:sp>
        <p:nvSpPr>
          <p:cNvPr id="34" name="Shape 32"/>
          <p:cNvSpPr/>
          <p:nvPr/>
        </p:nvSpPr>
        <p:spPr>
          <a:xfrm>
            <a:off x="6766560" y="2340864"/>
            <a:ext cx="2148840" cy="457200"/>
          </a:xfrm>
          <a:prstGeom prst="rect">
            <a:avLst/>
          </a:prstGeom>
          <a:solidFill>
            <a:srgbClr val="EFF6FF"/>
          </a:solidFill>
          <a:ln w="12700">
            <a:solidFill>
              <a:srgbClr val="E2E8F0"/>
            </a:solidFill>
            <a:prstDash val="solid"/>
          </a:ln>
        </p:spPr>
      </p:sp>
      <p:sp>
        <p:nvSpPr>
          <p:cNvPr id="35" name="Text 33"/>
          <p:cNvSpPr/>
          <p:nvPr/>
        </p:nvSpPr>
        <p:spPr>
          <a:xfrm>
            <a:off x="6766560" y="2340864"/>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0.95  (95%)</a:t>
            </a:r>
            <a:endParaRPr lang="en-US" sz="1200" dirty="0"/>
          </a:p>
        </p:txBody>
      </p:sp>
      <p:sp>
        <p:nvSpPr>
          <p:cNvPr id="36" name="Shape 34"/>
          <p:cNvSpPr/>
          <p:nvPr/>
        </p:nvSpPr>
        <p:spPr>
          <a:xfrm>
            <a:off x="182880" y="2816352"/>
            <a:ext cx="2148840" cy="457200"/>
          </a:xfrm>
          <a:prstGeom prst="rect">
            <a:avLst/>
          </a:prstGeom>
          <a:solidFill>
            <a:srgbClr val="FFFFFF"/>
          </a:solidFill>
          <a:ln w="12700">
            <a:solidFill>
              <a:srgbClr val="E2E8F0"/>
            </a:solidFill>
            <a:prstDash val="solid"/>
          </a:ln>
        </p:spPr>
      </p:sp>
      <p:sp>
        <p:nvSpPr>
          <p:cNvPr id="37" name="Text 35"/>
          <p:cNvSpPr/>
          <p:nvPr/>
        </p:nvSpPr>
        <p:spPr>
          <a:xfrm>
            <a:off x="182880" y="2816352"/>
            <a:ext cx="2148840" cy="457200"/>
          </a:xfrm>
          <a:prstGeom prst="rect">
            <a:avLst/>
          </a:prstGeom>
          <a:noFill/>
          <a:ln/>
        </p:spPr>
        <p:txBody>
          <a:bodyPr wrap="square" rtlCol="0" anchor="ctr"/>
          <a:lstStyle/>
          <a:p>
            <a:pPr marL="0" indent="0" algn="ctr">
              <a:buNone/>
            </a:pPr>
            <a:r>
              <a:rPr lang="en-US" sz="1100" b="1" dirty="0">
                <a:solidFill>
                  <a:srgbClr val="1A3A5C"/>
                </a:solidFill>
                <a:latin typeface="Calibri" pitchFamily="34" charset="0"/>
                <a:ea typeface="Calibri" pitchFamily="34" charset="-122"/>
                <a:cs typeface="Calibri" pitchFamily="34" charset="-120"/>
              </a:rPr>
              <a:t>F1 Score</a:t>
            </a:r>
            <a:endParaRPr lang="en-US" sz="1100" dirty="0"/>
          </a:p>
        </p:txBody>
      </p:sp>
      <p:sp>
        <p:nvSpPr>
          <p:cNvPr id="38" name="Shape 36"/>
          <p:cNvSpPr/>
          <p:nvPr/>
        </p:nvSpPr>
        <p:spPr>
          <a:xfrm>
            <a:off x="2377440" y="2816352"/>
            <a:ext cx="2148840" cy="457200"/>
          </a:xfrm>
          <a:prstGeom prst="rect">
            <a:avLst/>
          </a:prstGeom>
          <a:solidFill>
            <a:srgbClr val="FFFFFF"/>
          </a:solidFill>
          <a:ln w="12700">
            <a:solidFill>
              <a:srgbClr val="E2E8F0"/>
            </a:solidFill>
            <a:prstDash val="solid"/>
          </a:ln>
        </p:spPr>
      </p:sp>
      <p:sp>
        <p:nvSpPr>
          <p:cNvPr id="39" name="Text 37"/>
          <p:cNvSpPr/>
          <p:nvPr/>
        </p:nvSpPr>
        <p:spPr>
          <a:xfrm>
            <a:off x="2377440" y="2816352"/>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0.68 </a:t>
            </a:r>
            <a:endParaRPr lang="en-US" sz="1200" dirty="0"/>
          </a:p>
        </p:txBody>
      </p:sp>
      <p:sp>
        <p:nvSpPr>
          <p:cNvPr id="40" name="Shape 38"/>
          <p:cNvSpPr/>
          <p:nvPr/>
        </p:nvSpPr>
        <p:spPr>
          <a:xfrm>
            <a:off x="4572000" y="2816352"/>
            <a:ext cx="2148840" cy="457200"/>
          </a:xfrm>
          <a:prstGeom prst="rect">
            <a:avLst/>
          </a:prstGeom>
          <a:solidFill>
            <a:srgbClr val="FFFFFF"/>
          </a:solidFill>
          <a:ln w="12700">
            <a:solidFill>
              <a:srgbClr val="E2E8F0"/>
            </a:solidFill>
            <a:prstDash val="solid"/>
          </a:ln>
        </p:spPr>
      </p:sp>
      <p:sp>
        <p:nvSpPr>
          <p:cNvPr id="41" name="Text 39"/>
          <p:cNvSpPr/>
          <p:nvPr/>
        </p:nvSpPr>
        <p:spPr>
          <a:xfrm>
            <a:off x="4572000" y="2816352"/>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0.68 </a:t>
            </a:r>
            <a:endParaRPr lang="en-US" sz="1200" dirty="0"/>
          </a:p>
        </p:txBody>
      </p:sp>
      <p:sp>
        <p:nvSpPr>
          <p:cNvPr id="42" name="Shape 40"/>
          <p:cNvSpPr/>
          <p:nvPr/>
        </p:nvSpPr>
        <p:spPr>
          <a:xfrm>
            <a:off x="6766560" y="2816352"/>
            <a:ext cx="2148840" cy="457200"/>
          </a:xfrm>
          <a:prstGeom prst="rect">
            <a:avLst/>
          </a:prstGeom>
          <a:solidFill>
            <a:srgbClr val="FFFFFF"/>
          </a:solidFill>
          <a:ln w="12700">
            <a:solidFill>
              <a:srgbClr val="E2E8F0"/>
            </a:solidFill>
            <a:prstDash val="solid"/>
          </a:ln>
        </p:spPr>
      </p:sp>
      <p:sp>
        <p:nvSpPr>
          <p:cNvPr id="43" name="Text 41"/>
          <p:cNvSpPr/>
          <p:nvPr/>
        </p:nvSpPr>
        <p:spPr>
          <a:xfrm>
            <a:off x="6766560" y="2816352"/>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0.62</a:t>
            </a:r>
            <a:endParaRPr lang="en-US" sz="1200" dirty="0"/>
          </a:p>
        </p:txBody>
      </p:sp>
      <p:sp>
        <p:nvSpPr>
          <p:cNvPr id="44" name="Shape 42"/>
          <p:cNvSpPr/>
          <p:nvPr/>
        </p:nvSpPr>
        <p:spPr>
          <a:xfrm>
            <a:off x="182880" y="3291840"/>
            <a:ext cx="2148840" cy="457200"/>
          </a:xfrm>
          <a:prstGeom prst="rect">
            <a:avLst/>
          </a:prstGeom>
          <a:solidFill>
            <a:srgbClr val="EFF6FF"/>
          </a:solidFill>
          <a:ln w="12700">
            <a:solidFill>
              <a:srgbClr val="E2E8F0"/>
            </a:solidFill>
            <a:prstDash val="solid"/>
          </a:ln>
        </p:spPr>
      </p:sp>
      <p:sp>
        <p:nvSpPr>
          <p:cNvPr id="45" name="Text 43"/>
          <p:cNvSpPr/>
          <p:nvPr/>
        </p:nvSpPr>
        <p:spPr>
          <a:xfrm>
            <a:off x="182880" y="3291840"/>
            <a:ext cx="2148840" cy="457200"/>
          </a:xfrm>
          <a:prstGeom prst="rect">
            <a:avLst/>
          </a:prstGeom>
          <a:noFill/>
          <a:ln/>
        </p:spPr>
        <p:txBody>
          <a:bodyPr wrap="square" rtlCol="0" anchor="ctr"/>
          <a:lstStyle/>
          <a:p>
            <a:pPr marL="0" indent="0" algn="ctr">
              <a:buNone/>
            </a:pPr>
            <a:r>
              <a:rPr lang="en-US" sz="1100" b="1" dirty="0">
                <a:solidFill>
                  <a:srgbClr val="1A3A5C"/>
                </a:solidFill>
                <a:latin typeface="Calibri" pitchFamily="34" charset="0"/>
                <a:ea typeface="Calibri" pitchFamily="34" charset="-122"/>
                <a:cs typeface="Calibri" pitchFamily="34" charset="-120"/>
              </a:rPr>
              <a:t>Detectó tumores </a:t>
            </a:r>
            <a:endParaRPr lang="en-US" sz="1100" dirty="0"/>
          </a:p>
        </p:txBody>
      </p:sp>
      <p:sp>
        <p:nvSpPr>
          <p:cNvPr id="46" name="Shape 44"/>
          <p:cNvSpPr/>
          <p:nvPr/>
        </p:nvSpPr>
        <p:spPr>
          <a:xfrm>
            <a:off x="2377440" y="3291840"/>
            <a:ext cx="2148840" cy="457200"/>
          </a:xfrm>
          <a:prstGeom prst="rect">
            <a:avLst/>
          </a:prstGeom>
          <a:solidFill>
            <a:srgbClr val="EFF6FF"/>
          </a:solidFill>
          <a:ln w="12700">
            <a:solidFill>
              <a:srgbClr val="E2E8F0"/>
            </a:solidFill>
            <a:prstDash val="solid"/>
          </a:ln>
        </p:spPr>
      </p:sp>
      <p:sp>
        <p:nvSpPr>
          <p:cNvPr id="47" name="Text 45"/>
          <p:cNvSpPr/>
          <p:nvPr/>
        </p:nvSpPr>
        <p:spPr>
          <a:xfrm>
            <a:off x="2377440" y="3291840"/>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55 correctos</a:t>
            </a:r>
            <a:endParaRPr lang="en-US" sz="1200" dirty="0"/>
          </a:p>
        </p:txBody>
      </p:sp>
      <p:sp>
        <p:nvSpPr>
          <p:cNvPr id="48" name="Shape 46"/>
          <p:cNvSpPr/>
          <p:nvPr/>
        </p:nvSpPr>
        <p:spPr>
          <a:xfrm>
            <a:off x="4572000" y="3291840"/>
            <a:ext cx="2148840" cy="457200"/>
          </a:xfrm>
          <a:prstGeom prst="rect">
            <a:avLst/>
          </a:prstGeom>
          <a:solidFill>
            <a:srgbClr val="EFF6FF"/>
          </a:solidFill>
          <a:ln w="12700">
            <a:solidFill>
              <a:srgbClr val="E2E8F0"/>
            </a:solidFill>
            <a:prstDash val="solid"/>
          </a:ln>
        </p:spPr>
      </p:sp>
      <p:sp>
        <p:nvSpPr>
          <p:cNvPr id="49" name="Text 47"/>
          <p:cNvSpPr/>
          <p:nvPr/>
        </p:nvSpPr>
        <p:spPr>
          <a:xfrm>
            <a:off x="4572000" y="3291840"/>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65 correctos </a:t>
            </a:r>
            <a:endParaRPr lang="en-US" sz="1200" dirty="0"/>
          </a:p>
        </p:txBody>
      </p:sp>
      <p:sp>
        <p:nvSpPr>
          <p:cNvPr id="50" name="Shape 48"/>
          <p:cNvSpPr/>
          <p:nvPr/>
        </p:nvSpPr>
        <p:spPr>
          <a:xfrm>
            <a:off x="6766560" y="3291840"/>
            <a:ext cx="2148840" cy="457200"/>
          </a:xfrm>
          <a:prstGeom prst="rect">
            <a:avLst/>
          </a:prstGeom>
          <a:solidFill>
            <a:srgbClr val="EFF6FF"/>
          </a:solidFill>
          <a:ln w="12700">
            <a:solidFill>
              <a:srgbClr val="E2E8F0"/>
            </a:solidFill>
            <a:prstDash val="solid"/>
          </a:ln>
        </p:spPr>
      </p:sp>
      <p:sp>
        <p:nvSpPr>
          <p:cNvPr id="51" name="Text 49"/>
          <p:cNvSpPr/>
          <p:nvPr/>
        </p:nvSpPr>
        <p:spPr>
          <a:xfrm>
            <a:off x="6766560" y="3291840"/>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54 correctos</a:t>
            </a:r>
            <a:endParaRPr lang="en-US" sz="1200" dirty="0"/>
          </a:p>
        </p:txBody>
      </p:sp>
      <p:sp>
        <p:nvSpPr>
          <p:cNvPr id="52" name="Shape 50"/>
          <p:cNvSpPr/>
          <p:nvPr/>
        </p:nvSpPr>
        <p:spPr>
          <a:xfrm>
            <a:off x="182880" y="3767328"/>
            <a:ext cx="2148840" cy="457200"/>
          </a:xfrm>
          <a:prstGeom prst="rect">
            <a:avLst/>
          </a:prstGeom>
          <a:solidFill>
            <a:srgbClr val="FFFFFF"/>
          </a:solidFill>
          <a:ln w="12700">
            <a:solidFill>
              <a:srgbClr val="E2E8F0"/>
            </a:solidFill>
            <a:prstDash val="solid"/>
          </a:ln>
        </p:spPr>
      </p:sp>
      <p:sp>
        <p:nvSpPr>
          <p:cNvPr id="53" name="Text 51"/>
          <p:cNvSpPr/>
          <p:nvPr/>
        </p:nvSpPr>
        <p:spPr>
          <a:xfrm>
            <a:off x="182880" y="3767328"/>
            <a:ext cx="2148840" cy="457200"/>
          </a:xfrm>
          <a:prstGeom prst="rect">
            <a:avLst/>
          </a:prstGeom>
          <a:noFill/>
          <a:ln/>
        </p:spPr>
        <p:txBody>
          <a:bodyPr wrap="square" rtlCol="0" anchor="ctr"/>
          <a:lstStyle/>
          <a:p>
            <a:pPr marL="0" indent="0" algn="ctr">
              <a:buNone/>
            </a:pPr>
            <a:r>
              <a:rPr lang="en-US" sz="1100" b="1" dirty="0">
                <a:solidFill>
                  <a:srgbClr val="1A3A5C"/>
                </a:solidFill>
                <a:latin typeface="Calibri" pitchFamily="34" charset="0"/>
                <a:ea typeface="Calibri" pitchFamily="34" charset="-122"/>
                <a:cs typeface="Calibri" pitchFamily="34" charset="-120"/>
              </a:rPr>
              <a:t>Confianza inferencia</a:t>
            </a:r>
            <a:endParaRPr lang="en-US" sz="1100" dirty="0"/>
          </a:p>
        </p:txBody>
      </p:sp>
      <p:sp>
        <p:nvSpPr>
          <p:cNvPr id="54" name="Shape 52"/>
          <p:cNvSpPr/>
          <p:nvPr/>
        </p:nvSpPr>
        <p:spPr>
          <a:xfrm>
            <a:off x="2377440" y="3767328"/>
            <a:ext cx="2148840" cy="457200"/>
          </a:xfrm>
          <a:prstGeom prst="rect">
            <a:avLst/>
          </a:prstGeom>
          <a:solidFill>
            <a:srgbClr val="FFFFFF"/>
          </a:solidFill>
          <a:ln w="12700">
            <a:solidFill>
              <a:srgbClr val="E2E8F0"/>
            </a:solidFill>
            <a:prstDash val="solid"/>
          </a:ln>
        </p:spPr>
      </p:sp>
      <p:sp>
        <p:nvSpPr>
          <p:cNvPr id="55" name="Text 53"/>
          <p:cNvSpPr/>
          <p:nvPr/>
        </p:nvSpPr>
        <p:spPr>
          <a:xfrm>
            <a:off x="2377440" y="3767328"/>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69% </a:t>
            </a:r>
            <a:endParaRPr lang="en-US" sz="1200" dirty="0"/>
          </a:p>
        </p:txBody>
      </p:sp>
      <p:sp>
        <p:nvSpPr>
          <p:cNvPr id="56" name="Shape 54"/>
          <p:cNvSpPr/>
          <p:nvPr/>
        </p:nvSpPr>
        <p:spPr>
          <a:xfrm>
            <a:off x="4572000" y="3767328"/>
            <a:ext cx="2148840" cy="457200"/>
          </a:xfrm>
          <a:prstGeom prst="rect">
            <a:avLst/>
          </a:prstGeom>
          <a:solidFill>
            <a:srgbClr val="FFFFFF"/>
          </a:solidFill>
          <a:ln w="12700">
            <a:solidFill>
              <a:srgbClr val="E2E8F0"/>
            </a:solidFill>
            <a:prstDash val="solid"/>
          </a:ln>
        </p:spPr>
      </p:sp>
      <p:sp>
        <p:nvSpPr>
          <p:cNvPr id="57" name="Text 55"/>
          <p:cNvSpPr/>
          <p:nvPr/>
        </p:nvSpPr>
        <p:spPr>
          <a:xfrm>
            <a:off x="4572000" y="3767328"/>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52%</a:t>
            </a:r>
            <a:endParaRPr lang="en-US" sz="1200" dirty="0"/>
          </a:p>
        </p:txBody>
      </p:sp>
      <p:sp>
        <p:nvSpPr>
          <p:cNvPr id="58" name="Shape 56"/>
          <p:cNvSpPr/>
          <p:nvPr/>
        </p:nvSpPr>
        <p:spPr>
          <a:xfrm>
            <a:off x="6766560" y="3767328"/>
            <a:ext cx="2148840" cy="457200"/>
          </a:xfrm>
          <a:prstGeom prst="rect">
            <a:avLst/>
          </a:prstGeom>
          <a:solidFill>
            <a:srgbClr val="FFFFFF"/>
          </a:solidFill>
          <a:ln w="12700">
            <a:solidFill>
              <a:srgbClr val="E2E8F0"/>
            </a:solidFill>
            <a:prstDash val="solid"/>
          </a:ln>
        </p:spPr>
      </p:sp>
      <p:sp>
        <p:nvSpPr>
          <p:cNvPr id="59" name="Text 57"/>
          <p:cNvSpPr/>
          <p:nvPr/>
        </p:nvSpPr>
        <p:spPr>
          <a:xfrm>
            <a:off x="6766560" y="3767328"/>
            <a:ext cx="2148840" cy="45720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52%</a:t>
            </a:r>
            <a:endParaRPr lang="en-US" sz="1200" dirty="0"/>
          </a:p>
        </p:txBody>
      </p:sp>
      <p:sp>
        <p:nvSpPr>
          <p:cNvPr id="60" name="Text 58"/>
          <p:cNvSpPr/>
          <p:nvPr/>
        </p:nvSpPr>
        <p:spPr>
          <a:xfrm>
            <a:off x="274320" y="4663440"/>
            <a:ext cx="8595360" cy="320040"/>
          </a:xfrm>
          <a:prstGeom prst="rect">
            <a:avLst/>
          </a:prstGeom>
          <a:noFill/>
          <a:ln/>
        </p:spPr>
        <p:txBody>
          <a:bodyPr wrap="square" rtlCol="0" anchor="ctr"/>
          <a:lstStyle/>
          <a:p>
            <a:pPr marL="0" indent="0">
              <a:buNone/>
            </a:pP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628"/>
          </a:solidFill>
          <a:ln w="12700">
            <a:solidFill>
              <a:srgbClr val="0A1628"/>
            </a:solidFill>
            <a:prstDash val="solid"/>
          </a:ln>
        </p:spPr>
      </p:sp>
      <p:sp>
        <p:nvSpPr>
          <p:cNvPr id="3" name="Text 1"/>
          <p:cNvSpPr/>
          <p:nvPr/>
        </p:nvSpPr>
        <p:spPr>
          <a:xfrm>
            <a:off x="274320" y="0"/>
            <a:ext cx="8595360" cy="82296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Análisis de Gráficas — F1 Score y Precision-Recall</a:t>
            </a:r>
            <a:endParaRPr lang="en-US" sz="1800" dirty="0"/>
          </a:p>
        </p:txBody>
      </p:sp>
      <p:sp>
        <p:nvSpPr>
          <p:cNvPr id="4" name="Shape 2"/>
          <p:cNvSpPr/>
          <p:nvPr/>
        </p:nvSpPr>
        <p:spPr>
          <a:xfrm>
            <a:off x="274320" y="914400"/>
            <a:ext cx="4114800" cy="1828800"/>
          </a:xfrm>
          <a:prstGeom prst="rect">
            <a:avLst/>
          </a:prstGeom>
          <a:solidFill>
            <a:srgbClr val="F1F5F9"/>
          </a:solidFill>
          <a:ln w="12700">
            <a:solidFill>
              <a:srgbClr val="E2E8F0"/>
            </a:solidFill>
            <a:prstDash val="solid"/>
          </a:ln>
          <a:effectLst>
            <a:outerShdw blurRad="101600" dist="38100" dir="8100000" algn="bl" rotWithShape="0">
              <a:srgbClr val="000000">
                <a:alpha val="12000"/>
              </a:srgbClr>
            </a:outerShdw>
          </a:effectLst>
        </p:spPr>
      </p:sp>
      <p:sp>
        <p:nvSpPr>
          <p:cNvPr id="5" name="Shape 3"/>
          <p:cNvSpPr/>
          <p:nvPr/>
        </p:nvSpPr>
        <p:spPr>
          <a:xfrm>
            <a:off x="274320" y="914400"/>
            <a:ext cx="4114800" cy="457200"/>
          </a:xfrm>
          <a:prstGeom prst="rect">
            <a:avLst/>
          </a:prstGeom>
          <a:solidFill>
            <a:srgbClr val="1E6FBF"/>
          </a:solidFill>
          <a:ln w="12700">
            <a:solidFill>
              <a:srgbClr val="1E6FBF"/>
            </a:solidFill>
            <a:prstDash val="solid"/>
          </a:ln>
        </p:spPr>
      </p:sp>
      <p:sp>
        <p:nvSpPr>
          <p:cNvPr id="6" name="Text 4"/>
          <p:cNvSpPr/>
          <p:nvPr/>
        </p:nvSpPr>
        <p:spPr>
          <a:xfrm>
            <a:off x="320040" y="914400"/>
            <a:ext cx="402336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F1-Confidence Curve</a:t>
            </a:r>
            <a:endParaRPr lang="en-US" sz="1300" dirty="0"/>
          </a:p>
        </p:txBody>
      </p:sp>
      <p:sp>
        <p:nvSpPr>
          <p:cNvPr id="7" name="Text 5"/>
          <p:cNvSpPr/>
          <p:nvPr/>
        </p:nvSpPr>
        <p:spPr>
          <a:xfrm>
            <a:off x="411480" y="1417320"/>
            <a:ext cx="3886200" cy="1234440"/>
          </a:xfrm>
          <a:prstGeom prst="rect">
            <a:avLst/>
          </a:prstGeom>
          <a:noFill/>
          <a:ln/>
        </p:spPr>
        <p:txBody>
          <a:bodyPr wrap="square" rtlCol="0" anchor="t"/>
          <a:lstStyle/>
          <a:p>
            <a:pPr marL="0" indent="0">
              <a:buNone/>
            </a:pPr>
            <a:r>
              <a:rPr lang="en-US" sz="1100" dirty="0">
                <a:solidFill>
                  <a:srgbClr val="334155"/>
                </a:solidFill>
                <a:latin typeface="Calibri" pitchFamily="34" charset="0"/>
                <a:ea typeface="Calibri" pitchFamily="34" charset="-122"/>
                <a:cs typeface="Calibri" pitchFamily="34" charset="-120"/>
              </a:rPr>
              <a:t>Muestra el balance entre precisión y recall. El punto más alto de la curva indica el mejor umbral de confianza para el modelo. Nano y Small empataron en 0.68, mientras Medium bajó a 0.62.</a:t>
            </a:r>
            <a:endParaRPr lang="en-US" sz="1100" dirty="0"/>
          </a:p>
        </p:txBody>
      </p:sp>
      <p:sp>
        <p:nvSpPr>
          <p:cNvPr id="8" name="Shape 6"/>
          <p:cNvSpPr/>
          <p:nvPr/>
        </p:nvSpPr>
        <p:spPr>
          <a:xfrm>
            <a:off x="4572000" y="914400"/>
            <a:ext cx="4297680" cy="1828800"/>
          </a:xfrm>
          <a:prstGeom prst="rect">
            <a:avLst/>
          </a:prstGeom>
          <a:solidFill>
            <a:srgbClr val="F0F4FF"/>
          </a:solidFill>
          <a:ln w="12700">
            <a:solidFill>
              <a:srgbClr val="CBD5E1"/>
            </a:solidFill>
            <a:prstDash val="solid"/>
          </a:ln>
        </p:spPr>
        <p:txBody>
          <a:bodyPr/>
          <a:lstStyle/>
          <a:p>
            <a:r>
              <a:rPr lang="es-MX" dirty="0"/>
              <a:t>Nano                   Small                   Medium</a:t>
            </a:r>
          </a:p>
          <a:p>
            <a:endParaRPr lang="es-MX" dirty="0"/>
          </a:p>
          <a:p>
            <a:endParaRPr lang="es-MX" dirty="0"/>
          </a:p>
        </p:txBody>
      </p:sp>
      <p:sp>
        <p:nvSpPr>
          <p:cNvPr id="9" name="Text 7"/>
          <p:cNvSpPr/>
          <p:nvPr/>
        </p:nvSpPr>
        <p:spPr>
          <a:xfrm>
            <a:off x="4572000" y="914400"/>
            <a:ext cx="4297680" cy="1828800"/>
          </a:xfrm>
          <a:prstGeom prst="rect">
            <a:avLst/>
          </a:prstGeom>
          <a:noFill/>
          <a:ln/>
        </p:spPr>
        <p:txBody>
          <a:bodyPr wrap="square" rtlCol="0" anchor="ctr"/>
          <a:lstStyle/>
          <a:p>
            <a:pPr marL="0" indent="0" algn="ctr">
              <a:buNone/>
            </a:pPr>
            <a:endParaRPr lang="en-US" sz="1200" dirty="0"/>
          </a:p>
        </p:txBody>
      </p:sp>
      <p:sp>
        <p:nvSpPr>
          <p:cNvPr id="10" name="Shape 8"/>
          <p:cNvSpPr/>
          <p:nvPr/>
        </p:nvSpPr>
        <p:spPr>
          <a:xfrm>
            <a:off x="274320" y="2926080"/>
            <a:ext cx="4114800" cy="1920240"/>
          </a:xfrm>
          <a:prstGeom prst="rect">
            <a:avLst/>
          </a:prstGeom>
          <a:solidFill>
            <a:srgbClr val="F1F5F9"/>
          </a:solidFill>
          <a:ln w="12700">
            <a:solidFill>
              <a:srgbClr val="E2E8F0"/>
            </a:solidFill>
            <a:prstDash val="solid"/>
          </a:ln>
          <a:effectLst>
            <a:outerShdw blurRad="101600" dist="38100" dir="8100000" algn="bl" rotWithShape="0">
              <a:srgbClr val="000000">
                <a:alpha val="12000"/>
              </a:srgbClr>
            </a:outerShdw>
          </a:effectLst>
        </p:spPr>
      </p:sp>
      <p:sp>
        <p:nvSpPr>
          <p:cNvPr id="11" name="Shape 9"/>
          <p:cNvSpPr/>
          <p:nvPr/>
        </p:nvSpPr>
        <p:spPr>
          <a:xfrm>
            <a:off x="274320" y="2926080"/>
            <a:ext cx="4114800" cy="457200"/>
          </a:xfrm>
          <a:prstGeom prst="rect">
            <a:avLst/>
          </a:prstGeom>
          <a:solidFill>
            <a:srgbClr val="0D9488"/>
          </a:solidFill>
          <a:ln w="12700">
            <a:solidFill>
              <a:srgbClr val="0D9488"/>
            </a:solidFill>
            <a:prstDash val="solid"/>
          </a:ln>
        </p:spPr>
      </p:sp>
      <p:sp>
        <p:nvSpPr>
          <p:cNvPr id="12" name="Text 10"/>
          <p:cNvSpPr/>
          <p:nvPr/>
        </p:nvSpPr>
        <p:spPr>
          <a:xfrm>
            <a:off x="320040" y="2926080"/>
            <a:ext cx="402336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Precision-Recall Curve (mAP@50)</a:t>
            </a:r>
            <a:endParaRPr lang="en-US" sz="1200" dirty="0"/>
          </a:p>
        </p:txBody>
      </p:sp>
      <p:sp>
        <p:nvSpPr>
          <p:cNvPr id="13" name="Text 11"/>
          <p:cNvSpPr/>
          <p:nvPr/>
        </p:nvSpPr>
        <p:spPr>
          <a:xfrm>
            <a:off x="411480" y="3429000"/>
            <a:ext cx="3886200" cy="1325880"/>
          </a:xfrm>
          <a:prstGeom prst="rect">
            <a:avLst/>
          </a:prstGeom>
          <a:noFill/>
          <a:ln/>
        </p:spPr>
        <p:txBody>
          <a:bodyPr wrap="square" rtlCol="0" anchor="t"/>
          <a:lstStyle/>
          <a:p>
            <a:pPr marL="0" indent="0">
              <a:buNone/>
            </a:pPr>
            <a:r>
              <a:rPr lang="en-US" sz="1100" dirty="0">
                <a:solidFill>
                  <a:srgbClr val="334155"/>
                </a:solidFill>
                <a:latin typeface="Calibri" pitchFamily="34" charset="0"/>
                <a:ea typeface="Calibri" pitchFamily="34" charset="-122"/>
                <a:cs typeface="Calibri" pitchFamily="34" charset="-120"/>
              </a:rPr>
              <a:t>Muestra la calificación general del modelo. Entre más grande el área bajo la curva, mejor detecta. Small obtuvo el mejor mAP (0.721), seguido de Nano (0.709). Medium fue el peor (0.577).</a:t>
            </a:r>
            <a:endParaRPr lang="en-US" sz="1100" dirty="0"/>
          </a:p>
        </p:txBody>
      </p:sp>
      <p:sp>
        <p:nvSpPr>
          <p:cNvPr id="14" name="Shape 12"/>
          <p:cNvSpPr/>
          <p:nvPr/>
        </p:nvSpPr>
        <p:spPr>
          <a:xfrm>
            <a:off x="4572000" y="2926080"/>
            <a:ext cx="4297680" cy="1920240"/>
          </a:xfrm>
          <a:prstGeom prst="rect">
            <a:avLst/>
          </a:prstGeom>
          <a:solidFill>
            <a:srgbClr val="F0F4FF"/>
          </a:solidFill>
          <a:ln w="12700">
            <a:solidFill>
              <a:srgbClr val="CBD5E1"/>
            </a:solidFill>
            <a:prstDash val="solid"/>
          </a:ln>
        </p:spPr>
        <p:txBody>
          <a:bodyPr/>
          <a:lstStyle/>
          <a:p>
            <a:r>
              <a:rPr lang="es-MX" dirty="0"/>
              <a:t>Nano                     Small                Medium</a:t>
            </a:r>
          </a:p>
          <a:p>
            <a:endParaRPr lang="es-MX" dirty="0"/>
          </a:p>
        </p:txBody>
      </p:sp>
      <p:sp>
        <p:nvSpPr>
          <p:cNvPr id="15" name="Text 13"/>
          <p:cNvSpPr/>
          <p:nvPr/>
        </p:nvSpPr>
        <p:spPr>
          <a:xfrm>
            <a:off x="4572000" y="2926080"/>
            <a:ext cx="4297680" cy="1920240"/>
          </a:xfrm>
          <a:prstGeom prst="rect">
            <a:avLst/>
          </a:prstGeom>
          <a:noFill/>
          <a:ln/>
        </p:spPr>
        <p:txBody>
          <a:bodyPr wrap="square" rtlCol="0" anchor="ctr"/>
          <a:lstStyle/>
          <a:p>
            <a:pPr marL="0" indent="0" algn="ctr">
              <a:buNone/>
            </a:pPr>
            <a:endParaRPr lang="en-US" sz="1200" dirty="0"/>
          </a:p>
        </p:txBody>
      </p:sp>
      <p:pic>
        <p:nvPicPr>
          <p:cNvPr id="16" name="Imagen 15">
            <a:extLst>
              <a:ext uri="{FF2B5EF4-FFF2-40B4-BE49-F238E27FC236}">
                <a16:creationId xmlns:a16="http://schemas.microsoft.com/office/drawing/2014/main" id="{88A6D5B3-2423-4E82-8F96-3020FCCF9536}"/>
              </a:ext>
            </a:extLst>
          </p:cNvPr>
          <p:cNvPicPr/>
          <p:nvPr/>
        </p:nvPicPr>
        <p:blipFill rotWithShape="1">
          <a:blip r:embed="rId3"/>
          <a:srcRect l="16719" r="15846" b="5899"/>
          <a:stretch/>
        </p:blipFill>
        <p:spPr bwMode="auto">
          <a:xfrm>
            <a:off x="4644118" y="1239655"/>
            <a:ext cx="1299372" cy="1178289"/>
          </a:xfrm>
          <a:prstGeom prst="rect">
            <a:avLst/>
          </a:prstGeom>
          <a:ln>
            <a:noFill/>
          </a:ln>
          <a:extLst>
            <a:ext uri="{53640926-AAD7-44D8-BBD7-CCE9431645EC}">
              <a14:shadowObscured xmlns:a14="http://schemas.microsoft.com/office/drawing/2010/main"/>
            </a:ext>
          </a:extLst>
        </p:spPr>
      </p:pic>
      <p:pic>
        <p:nvPicPr>
          <p:cNvPr id="17" name="Imagen 16">
            <a:extLst>
              <a:ext uri="{FF2B5EF4-FFF2-40B4-BE49-F238E27FC236}">
                <a16:creationId xmlns:a16="http://schemas.microsoft.com/office/drawing/2014/main" id="{B8E09BDD-1028-4274-9391-2498DB97A022}"/>
              </a:ext>
            </a:extLst>
          </p:cNvPr>
          <p:cNvPicPr/>
          <p:nvPr/>
        </p:nvPicPr>
        <p:blipFill>
          <a:blip r:embed="rId4"/>
          <a:stretch>
            <a:fillRect/>
          </a:stretch>
        </p:blipFill>
        <p:spPr>
          <a:xfrm>
            <a:off x="6107213" y="1239654"/>
            <a:ext cx="1299372" cy="1178289"/>
          </a:xfrm>
          <a:prstGeom prst="rect">
            <a:avLst/>
          </a:prstGeom>
        </p:spPr>
      </p:pic>
      <p:pic>
        <p:nvPicPr>
          <p:cNvPr id="18" name="Imagen 17">
            <a:extLst>
              <a:ext uri="{FF2B5EF4-FFF2-40B4-BE49-F238E27FC236}">
                <a16:creationId xmlns:a16="http://schemas.microsoft.com/office/drawing/2014/main" id="{AFA6A307-534F-4BCD-AE8C-3CD80D5A0D26}"/>
              </a:ext>
            </a:extLst>
          </p:cNvPr>
          <p:cNvPicPr/>
          <p:nvPr/>
        </p:nvPicPr>
        <p:blipFill rotWithShape="1">
          <a:blip r:embed="rId5"/>
          <a:srcRect l="15111" r="14122"/>
          <a:stretch/>
        </p:blipFill>
        <p:spPr bwMode="auto">
          <a:xfrm>
            <a:off x="7527948" y="1239655"/>
            <a:ext cx="1299372" cy="1178290"/>
          </a:xfrm>
          <a:prstGeom prst="rect">
            <a:avLst/>
          </a:prstGeom>
          <a:ln>
            <a:noFill/>
          </a:ln>
          <a:extLst>
            <a:ext uri="{53640926-AAD7-44D8-BBD7-CCE9431645EC}">
              <a14:shadowObscured xmlns:a14="http://schemas.microsoft.com/office/drawing/2010/main"/>
            </a:ext>
          </a:extLst>
        </p:spPr>
      </p:pic>
      <p:pic>
        <p:nvPicPr>
          <p:cNvPr id="19" name="Imagen 18">
            <a:extLst>
              <a:ext uri="{FF2B5EF4-FFF2-40B4-BE49-F238E27FC236}">
                <a16:creationId xmlns:a16="http://schemas.microsoft.com/office/drawing/2014/main" id="{546DC7F9-D0A0-420D-A328-5A937C5DEA0D}"/>
              </a:ext>
            </a:extLst>
          </p:cNvPr>
          <p:cNvPicPr/>
          <p:nvPr/>
        </p:nvPicPr>
        <p:blipFill>
          <a:blip r:embed="rId6"/>
          <a:stretch>
            <a:fillRect/>
          </a:stretch>
        </p:blipFill>
        <p:spPr>
          <a:xfrm>
            <a:off x="4692125" y="3267221"/>
            <a:ext cx="1167069" cy="1018149"/>
          </a:xfrm>
          <a:prstGeom prst="rect">
            <a:avLst/>
          </a:prstGeom>
        </p:spPr>
      </p:pic>
      <p:pic>
        <p:nvPicPr>
          <p:cNvPr id="20" name="Imagen 19">
            <a:extLst>
              <a:ext uri="{FF2B5EF4-FFF2-40B4-BE49-F238E27FC236}">
                <a16:creationId xmlns:a16="http://schemas.microsoft.com/office/drawing/2014/main" id="{AAEE9AA0-28F9-4685-9067-5186C00618D2}"/>
              </a:ext>
            </a:extLst>
          </p:cNvPr>
          <p:cNvPicPr/>
          <p:nvPr/>
        </p:nvPicPr>
        <p:blipFill>
          <a:blip r:embed="rId7"/>
          <a:stretch>
            <a:fillRect/>
          </a:stretch>
        </p:blipFill>
        <p:spPr>
          <a:xfrm>
            <a:off x="6066089" y="3267220"/>
            <a:ext cx="1097390" cy="1018149"/>
          </a:xfrm>
          <a:prstGeom prst="rect">
            <a:avLst/>
          </a:prstGeom>
        </p:spPr>
      </p:pic>
      <p:pic>
        <p:nvPicPr>
          <p:cNvPr id="21" name="Imagen 20">
            <a:extLst>
              <a:ext uri="{FF2B5EF4-FFF2-40B4-BE49-F238E27FC236}">
                <a16:creationId xmlns:a16="http://schemas.microsoft.com/office/drawing/2014/main" id="{9304DBB0-E9D5-4D87-A3AA-CC02C86C3BCA}"/>
              </a:ext>
            </a:extLst>
          </p:cNvPr>
          <p:cNvPicPr/>
          <p:nvPr/>
        </p:nvPicPr>
        <p:blipFill>
          <a:blip r:embed="rId8"/>
          <a:stretch>
            <a:fillRect/>
          </a:stretch>
        </p:blipFill>
        <p:spPr>
          <a:xfrm>
            <a:off x="7346359" y="3267222"/>
            <a:ext cx="1366983" cy="101814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628"/>
          </a:solidFill>
          <a:ln w="12700">
            <a:solidFill>
              <a:srgbClr val="0A1628"/>
            </a:solidFill>
            <a:prstDash val="solid"/>
          </a:ln>
        </p:spPr>
      </p:sp>
      <p:sp>
        <p:nvSpPr>
          <p:cNvPr id="3" name="Text 1"/>
          <p:cNvSpPr/>
          <p:nvPr/>
        </p:nvSpPr>
        <p:spPr>
          <a:xfrm>
            <a:off x="274320" y="0"/>
            <a:ext cx="8595360" cy="82296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 Matriz de Confusión — ¿Qué tan bien clasificó cada modelo?</a:t>
            </a:r>
            <a:endParaRPr lang="en-US" sz="1700" dirty="0"/>
          </a:p>
        </p:txBody>
      </p:sp>
      <p:sp>
        <p:nvSpPr>
          <p:cNvPr id="4" name="Shape 2"/>
          <p:cNvSpPr/>
          <p:nvPr/>
        </p:nvSpPr>
        <p:spPr>
          <a:xfrm>
            <a:off x="274320" y="914400"/>
            <a:ext cx="8595360" cy="685800"/>
          </a:xfrm>
          <a:prstGeom prst="rect">
            <a:avLst/>
          </a:prstGeom>
          <a:solidFill>
            <a:srgbClr val="EFF6FF"/>
          </a:solidFill>
          <a:ln w="12700">
            <a:solidFill>
              <a:srgbClr val="BFDBFE"/>
            </a:solidFill>
            <a:prstDash val="solid"/>
          </a:ln>
        </p:spPr>
      </p:sp>
      <p:sp>
        <p:nvSpPr>
          <p:cNvPr id="5" name="Text 3"/>
          <p:cNvSpPr/>
          <p:nvPr/>
        </p:nvSpPr>
        <p:spPr>
          <a:xfrm>
            <a:off x="457200" y="914400"/>
            <a:ext cx="8229600" cy="685800"/>
          </a:xfrm>
          <a:prstGeom prst="rect">
            <a:avLst/>
          </a:prstGeom>
          <a:noFill/>
          <a:ln/>
        </p:spPr>
        <p:txBody>
          <a:bodyPr wrap="square" rtlCol="0" anchor="ctr"/>
          <a:lstStyle/>
          <a:p>
            <a:pPr marL="0" indent="0">
              <a:buNone/>
            </a:pPr>
            <a:r>
              <a:rPr lang="en-US" sz="1200" dirty="0">
                <a:solidFill>
                  <a:srgbClr val="1A3A5C"/>
                </a:solidFill>
                <a:latin typeface="Calibri" pitchFamily="34" charset="0"/>
                <a:ea typeface="Calibri" pitchFamily="34" charset="-122"/>
                <a:cs typeface="Calibri" pitchFamily="34" charset="-120"/>
              </a:rPr>
              <a:t>¿Qué es esta gráfica? Muestra los aciertos y errores del modelo. Los cuadros oscuros en diagonal = aciertos (bien detectado). Los claros = errores (se confundió).</a:t>
            </a:r>
            <a:endParaRPr lang="en-US" sz="1200" dirty="0"/>
          </a:p>
        </p:txBody>
      </p:sp>
      <p:sp>
        <p:nvSpPr>
          <p:cNvPr id="6" name="Shape 4"/>
          <p:cNvSpPr/>
          <p:nvPr/>
        </p:nvSpPr>
        <p:spPr>
          <a:xfrm>
            <a:off x="274320" y="1737360"/>
            <a:ext cx="2651760" cy="365760"/>
          </a:xfrm>
          <a:prstGeom prst="rect">
            <a:avLst/>
          </a:prstGeom>
          <a:solidFill>
            <a:srgbClr val="1A3A5C"/>
          </a:solidFill>
          <a:ln w="12700">
            <a:solidFill>
              <a:srgbClr val="1A3A5C"/>
            </a:solidFill>
            <a:prstDash val="solid"/>
          </a:ln>
        </p:spPr>
      </p:sp>
      <p:sp>
        <p:nvSpPr>
          <p:cNvPr id="7" name="Text 5"/>
          <p:cNvSpPr/>
          <p:nvPr/>
        </p:nvSpPr>
        <p:spPr>
          <a:xfrm>
            <a:off x="274320" y="1737360"/>
            <a:ext cx="2651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Nano</a:t>
            </a:r>
            <a:endParaRPr lang="en-US" sz="1300" dirty="0"/>
          </a:p>
        </p:txBody>
      </p:sp>
      <p:sp>
        <p:nvSpPr>
          <p:cNvPr id="8" name="Shape 6"/>
          <p:cNvSpPr/>
          <p:nvPr/>
        </p:nvSpPr>
        <p:spPr>
          <a:xfrm>
            <a:off x="274320" y="2121408"/>
            <a:ext cx="2651760" cy="1463040"/>
          </a:xfrm>
          <a:prstGeom prst="rect">
            <a:avLst/>
          </a:prstGeom>
          <a:solidFill>
            <a:srgbClr val="F0F4FF"/>
          </a:solidFill>
          <a:ln w="12700">
            <a:solidFill>
              <a:srgbClr val="CBD5E1"/>
            </a:solidFill>
            <a:prstDash val="solid"/>
          </a:ln>
        </p:spPr>
      </p:sp>
      <p:sp>
        <p:nvSpPr>
          <p:cNvPr id="9" name="Text 7"/>
          <p:cNvSpPr/>
          <p:nvPr/>
        </p:nvSpPr>
        <p:spPr>
          <a:xfrm>
            <a:off x="274320" y="2121408"/>
            <a:ext cx="2651760" cy="1463040"/>
          </a:xfrm>
          <a:prstGeom prst="rect">
            <a:avLst/>
          </a:prstGeom>
          <a:noFill/>
          <a:ln/>
        </p:spPr>
        <p:txBody>
          <a:bodyPr wrap="square" rtlCol="0" anchor="ctr"/>
          <a:lstStyle/>
          <a:p>
            <a:pPr marL="0" indent="0" algn="ctr">
              <a:buNone/>
            </a:pPr>
            <a:endParaRPr lang="en-US" sz="1100" dirty="0"/>
          </a:p>
        </p:txBody>
      </p:sp>
      <p:sp>
        <p:nvSpPr>
          <p:cNvPr id="10" name="Shape 8"/>
          <p:cNvSpPr/>
          <p:nvPr/>
        </p:nvSpPr>
        <p:spPr>
          <a:xfrm>
            <a:off x="274320" y="3611880"/>
            <a:ext cx="2651760" cy="1234440"/>
          </a:xfrm>
          <a:prstGeom prst="rect">
            <a:avLst/>
          </a:prstGeom>
          <a:solidFill>
            <a:srgbClr val="F1F5F9"/>
          </a:solidFill>
          <a:ln w="12700">
            <a:solidFill>
              <a:srgbClr val="E2E8F0"/>
            </a:solidFill>
            <a:prstDash val="solid"/>
          </a:ln>
        </p:spPr>
      </p:sp>
      <p:sp>
        <p:nvSpPr>
          <p:cNvPr id="11" name="Text 9"/>
          <p:cNvSpPr/>
          <p:nvPr/>
        </p:nvSpPr>
        <p:spPr>
          <a:xfrm>
            <a:off x="365760" y="3657600"/>
            <a:ext cx="2468880" cy="1097280"/>
          </a:xfrm>
          <a:prstGeom prst="rect">
            <a:avLst/>
          </a:prstGeom>
          <a:noFill/>
          <a:ln/>
        </p:spPr>
        <p:txBody>
          <a:bodyPr wrap="square" rtlCol="0" anchor="t"/>
          <a:lstStyle/>
          <a:p>
            <a:pPr marL="0" indent="0">
              <a:buNone/>
            </a:pPr>
            <a:r>
              <a:rPr lang="en-US" sz="1100" dirty="0">
                <a:solidFill>
                  <a:srgbClr val="334155"/>
                </a:solidFill>
                <a:latin typeface="Calibri" pitchFamily="34" charset="0"/>
                <a:ea typeface="Calibri" pitchFamily="34" charset="-122"/>
                <a:cs typeface="Calibri" pitchFamily="34" charset="-120"/>
              </a:rPr>
              <a:t>Sin tumor correcto: 52 </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Con tumor correcto: 55 </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Errores totales: 64 </a:t>
            </a:r>
            <a:endParaRPr lang="en-US" sz="1100" dirty="0"/>
          </a:p>
        </p:txBody>
      </p:sp>
      <p:sp>
        <p:nvSpPr>
          <p:cNvPr id="12" name="Shape 10"/>
          <p:cNvSpPr/>
          <p:nvPr/>
        </p:nvSpPr>
        <p:spPr>
          <a:xfrm>
            <a:off x="3200400" y="1737360"/>
            <a:ext cx="2651760" cy="365760"/>
          </a:xfrm>
          <a:prstGeom prst="rect">
            <a:avLst/>
          </a:prstGeom>
          <a:solidFill>
            <a:srgbClr val="0D9488"/>
          </a:solidFill>
          <a:ln w="12700">
            <a:solidFill>
              <a:srgbClr val="0D9488"/>
            </a:solidFill>
            <a:prstDash val="solid"/>
          </a:ln>
        </p:spPr>
      </p:sp>
      <p:sp>
        <p:nvSpPr>
          <p:cNvPr id="13" name="Text 11"/>
          <p:cNvSpPr/>
          <p:nvPr/>
        </p:nvSpPr>
        <p:spPr>
          <a:xfrm>
            <a:off x="3200400" y="1737360"/>
            <a:ext cx="2651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Small </a:t>
            </a:r>
            <a:endParaRPr lang="en-US" sz="1300" dirty="0"/>
          </a:p>
        </p:txBody>
      </p:sp>
      <p:sp>
        <p:nvSpPr>
          <p:cNvPr id="15" name="Text 13"/>
          <p:cNvSpPr/>
          <p:nvPr/>
        </p:nvSpPr>
        <p:spPr>
          <a:xfrm>
            <a:off x="3200400" y="2121408"/>
            <a:ext cx="2651760" cy="1463040"/>
          </a:xfrm>
          <a:prstGeom prst="rect">
            <a:avLst/>
          </a:prstGeom>
          <a:noFill/>
          <a:ln/>
        </p:spPr>
        <p:txBody>
          <a:bodyPr wrap="square" rtlCol="0" anchor="ctr"/>
          <a:lstStyle/>
          <a:p>
            <a:pPr marL="0" indent="0" algn="ctr">
              <a:buNone/>
            </a:pPr>
            <a:endParaRPr lang="en-US" sz="1100" dirty="0"/>
          </a:p>
        </p:txBody>
      </p:sp>
      <p:sp>
        <p:nvSpPr>
          <p:cNvPr id="16" name="Shape 14"/>
          <p:cNvSpPr/>
          <p:nvPr/>
        </p:nvSpPr>
        <p:spPr>
          <a:xfrm>
            <a:off x="3200400" y="3611880"/>
            <a:ext cx="2651760" cy="1234440"/>
          </a:xfrm>
          <a:prstGeom prst="rect">
            <a:avLst/>
          </a:prstGeom>
          <a:solidFill>
            <a:srgbClr val="F1F5F9"/>
          </a:solidFill>
          <a:ln w="12700">
            <a:solidFill>
              <a:srgbClr val="E2E8F0"/>
            </a:solidFill>
            <a:prstDash val="solid"/>
          </a:ln>
        </p:spPr>
      </p:sp>
      <p:sp>
        <p:nvSpPr>
          <p:cNvPr id="17" name="Text 15"/>
          <p:cNvSpPr/>
          <p:nvPr/>
        </p:nvSpPr>
        <p:spPr>
          <a:xfrm>
            <a:off x="3291840" y="3657600"/>
            <a:ext cx="2468880" cy="1097280"/>
          </a:xfrm>
          <a:prstGeom prst="rect">
            <a:avLst/>
          </a:prstGeom>
          <a:noFill/>
          <a:ln/>
        </p:spPr>
        <p:txBody>
          <a:bodyPr wrap="square" rtlCol="0" anchor="t"/>
          <a:lstStyle/>
          <a:p>
            <a:pPr marL="0" indent="0">
              <a:buNone/>
            </a:pPr>
            <a:r>
              <a:rPr lang="en-US" sz="1100" dirty="0">
                <a:solidFill>
                  <a:srgbClr val="334155"/>
                </a:solidFill>
                <a:latin typeface="Calibri" pitchFamily="34" charset="0"/>
                <a:ea typeface="Calibri" pitchFamily="34" charset="-122"/>
                <a:cs typeface="Calibri" pitchFamily="34" charset="-120"/>
              </a:rPr>
              <a:t>Sin tumor correcto: 45 </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Con tumor correcto: 65 </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Errores totales: 67 </a:t>
            </a:r>
            <a:endParaRPr lang="en-US" sz="1100" dirty="0"/>
          </a:p>
        </p:txBody>
      </p:sp>
      <p:sp>
        <p:nvSpPr>
          <p:cNvPr id="18" name="Shape 16"/>
          <p:cNvSpPr/>
          <p:nvPr/>
        </p:nvSpPr>
        <p:spPr>
          <a:xfrm>
            <a:off x="6126480" y="1737360"/>
            <a:ext cx="2651760" cy="365760"/>
          </a:xfrm>
          <a:prstGeom prst="rect">
            <a:avLst/>
          </a:prstGeom>
          <a:solidFill>
            <a:srgbClr val="1A3A5C"/>
          </a:solidFill>
          <a:ln w="12700">
            <a:solidFill>
              <a:srgbClr val="1A3A5C"/>
            </a:solidFill>
            <a:prstDash val="solid"/>
          </a:ln>
        </p:spPr>
      </p:sp>
      <p:sp>
        <p:nvSpPr>
          <p:cNvPr id="19" name="Text 17"/>
          <p:cNvSpPr/>
          <p:nvPr/>
        </p:nvSpPr>
        <p:spPr>
          <a:xfrm>
            <a:off x="6126480" y="1737360"/>
            <a:ext cx="2651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Medium</a:t>
            </a:r>
            <a:endParaRPr lang="en-US" sz="1300" dirty="0"/>
          </a:p>
        </p:txBody>
      </p:sp>
      <p:sp>
        <p:nvSpPr>
          <p:cNvPr id="20" name="Shape 18"/>
          <p:cNvSpPr/>
          <p:nvPr/>
        </p:nvSpPr>
        <p:spPr>
          <a:xfrm>
            <a:off x="6126480" y="2121408"/>
            <a:ext cx="2651760" cy="1463040"/>
          </a:xfrm>
          <a:prstGeom prst="rect">
            <a:avLst/>
          </a:prstGeom>
          <a:solidFill>
            <a:srgbClr val="F0F4FF"/>
          </a:solidFill>
          <a:ln w="12700">
            <a:solidFill>
              <a:srgbClr val="CBD5E1"/>
            </a:solidFill>
            <a:prstDash val="solid"/>
          </a:ln>
        </p:spPr>
        <p:txBody>
          <a:bodyPr/>
          <a:lstStyle/>
          <a:p>
            <a:endParaRPr lang="es-MX" dirty="0"/>
          </a:p>
        </p:txBody>
      </p:sp>
      <p:sp>
        <p:nvSpPr>
          <p:cNvPr id="21" name="Text 19"/>
          <p:cNvSpPr/>
          <p:nvPr/>
        </p:nvSpPr>
        <p:spPr>
          <a:xfrm>
            <a:off x="6126480" y="2121408"/>
            <a:ext cx="2651760" cy="1463040"/>
          </a:xfrm>
          <a:prstGeom prst="rect">
            <a:avLst/>
          </a:prstGeom>
          <a:noFill/>
          <a:ln/>
        </p:spPr>
        <p:txBody>
          <a:bodyPr wrap="square" rtlCol="0" anchor="ctr"/>
          <a:lstStyle/>
          <a:p>
            <a:pPr marL="0" indent="0" algn="ctr">
              <a:buNone/>
            </a:pPr>
            <a:endParaRPr lang="en-US" sz="1100" dirty="0"/>
          </a:p>
          <a:p>
            <a:pPr marL="0" indent="0" algn="ctr">
              <a:buNone/>
            </a:pPr>
            <a:endParaRPr lang="en-US" sz="1100" dirty="0"/>
          </a:p>
        </p:txBody>
      </p:sp>
      <p:sp>
        <p:nvSpPr>
          <p:cNvPr id="22" name="Shape 20"/>
          <p:cNvSpPr/>
          <p:nvPr/>
        </p:nvSpPr>
        <p:spPr>
          <a:xfrm>
            <a:off x="6126480" y="3611880"/>
            <a:ext cx="2651760" cy="1234440"/>
          </a:xfrm>
          <a:prstGeom prst="rect">
            <a:avLst/>
          </a:prstGeom>
          <a:solidFill>
            <a:srgbClr val="F1F5F9"/>
          </a:solidFill>
          <a:ln w="12700">
            <a:solidFill>
              <a:srgbClr val="E2E8F0"/>
            </a:solidFill>
            <a:prstDash val="solid"/>
          </a:ln>
        </p:spPr>
      </p:sp>
      <p:sp>
        <p:nvSpPr>
          <p:cNvPr id="23" name="Text 21"/>
          <p:cNvSpPr/>
          <p:nvPr/>
        </p:nvSpPr>
        <p:spPr>
          <a:xfrm>
            <a:off x="6217920" y="3657600"/>
            <a:ext cx="2468880" cy="1097280"/>
          </a:xfrm>
          <a:prstGeom prst="rect">
            <a:avLst/>
          </a:prstGeom>
          <a:noFill/>
          <a:ln/>
        </p:spPr>
        <p:txBody>
          <a:bodyPr wrap="square" rtlCol="0" anchor="t"/>
          <a:lstStyle/>
          <a:p>
            <a:pPr marL="0" indent="0">
              <a:buNone/>
            </a:pPr>
            <a:r>
              <a:rPr lang="en-US" sz="1100" dirty="0">
                <a:solidFill>
                  <a:srgbClr val="334155"/>
                </a:solidFill>
                <a:latin typeface="Calibri" pitchFamily="34" charset="0"/>
                <a:ea typeface="Calibri" pitchFamily="34" charset="-122"/>
                <a:cs typeface="Calibri" pitchFamily="34" charset="-120"/>
              </a:rPr>
              <a:t>Sin tumor correcto: 36 </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Con tumor correcto: 54 </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Errores totales: 84 </a:t>
            </a:r>
            <a:endParaRPr lang="en-US" sz="1100" dirty="0"/>
          </a:p>
        </p:txBody>
      </p:sp>
      <p:pic>
        <p:nvPicPr>
          <p:cNvPr id="24" name="Imagen 23">
            <a:extLst>
              <a:ext uri="{FF2B5EF4-FFF2-40B4-BE49-F238E27FC236}">
                <a16:creationId xmlns:a16="http://schemas.microsoft.com/office/drawing/2014/main" id="{56719720-A01D-484A-97E3-29BCC202822F}"/>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4078" y="2175602"/>
            <a:ext cx="1823706" cy="1354652"/>
          </a:xfrm>
          <a:prstGeom prst="rect">
            <a:avLst/>
          </a:prstGeom>
          <a:noFill/>
          <a:ln>
            <a:noFill/>
          </a:ln>
        </p:spPr>
      </p:pic>
      <p:pic>
        <p:nvPicPr>
          <p:cNvPr id="25" name="Imagen 24">
            <a:extLst>
              <a:ext uri="{FF2B5EF4-FFF2-40B4-BE49-F238E27FC236}">
                <a16:creationId xmlns:a16="http://schemas.microsoft.com/office/drawing/2014/main" id="{A6479CC5-8484-47F3-98F2-98EA2AA4DCAE}"/>
              </a:ext>
            </a:extLst>
          </p:cNvPr>
          <p:cNvPicPr/>
          <p:nvPr/>
        </p:nvPicPr>
        <p:blipFill rotWithShape="1">
          <a:blip r:embed="rId4"/>
          <a:srcRect l="24241" t="7001" r="2489"/>
          <a:stretch/>
        </p:blipFill>
        <p:spPr bwMode="auto">
          <a:xfrm>
            <a:off x="3614427" y="2121408"/>
            <a:ext cx="1823706" cy="1463040"/>
          </a:xfrm>
          <a:prstGeom prst="rect">
            <a:avLst/>
          </a:prstGeom>
          <a:ln>
            <a:noFill/>
          </a:ln>
          <a:extLst>
            <a:ext uri="{53640926-AAD7-44D8-BBD7-CCE9431645EC}">
              <a14:shadowObscured xmlns:a14="http://schemas.microsoft.com/office/drawing/2010/main"/>
            </a:ext>
          </a:extLst>
        </p:spPr>
      </p:pic>
      <p:pic>
        <p:nvPicPr>
          <p:cNvPr id="26" name="Imagen 25">
            <a:extLst>
              <a:ext uri="{FF2B5EF4-FFF2-40B4-BE49-F238E27FC236}">
                <a16:creationId xmlns:a16="http://schemas.microsoft.com/office/drawing/2014/main" id="{9A7E84C4-DA0A-4BD1-B9C3-6306CDFCB3A6}"/>
              </a:ext>
            </a:extLst>
          </p:cNvPr>
          <p:cNvPicPr/>
          <p:nvPr/>
        </p:nvPicPr>
        <p:blipFill>
          <a:blip r:embed="rId5"/>
          <a:stretch>
            <a:fillRect/>
          </a:stretch>
        </p:blipFill>
        <p:spPr>
          <a:xfrm>
            <a:off x="6377691" y="2175602"/>
            <a:ext cx="1942231" cy="13273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628"/>
          </a:solidFill>
          <a:ln w="12700">
            <a:solidFill>
              <a:srgbClr val="0A1628"/>
            </a:solidFill>
            <a:prstDash val="solid"/>
          </a:ln>
        </p:spPr>
      </p:sp>
      <p:sp>
        <p:nvSpPr>
          <p:cNvPr id="3" name="Text 1"/>
          <p:cNvSpPr/>
          <p:nvPr/>
        </p:nvSpPr>
        <p:spPr>
          <a:xfrm>
            <a:off x="274320" y="0"/>
            <a:ext cx="8595360" cy="82296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  Curvas de Entrenamiento — ¿Cómo aprendió cada modelo?</a:t>
            </a:r>
            <a:endParaRPr lang="en-US" sz="1700" dirty="0"/>
          </a:p>
        </p:txBody>
      </p:sp>
      <p:sp>
        <p:nvSpPr>
          <p:cNvPr id="4" name="Shape 2"/>
          <p:cNvSpPr/>
          <p:nvPr/>
        </p:nvSpPr>
        <p:spPr>
          <a:xfrm>
            <a:off x="274320" y="914400"/>
            <a:ext cx="8595360" cy="640080"/>
          </a:xfrm>
          <a:prstGeom prst="rect">
            <a:avLst/>
          </a:prstGeom>
          <a:solidFill>
            <a:srgbClr val="EFF6FF"/>
          </a:solidFill>
          <a:ln w="12700">
            <a:solidFill>
              <a:srgbClr val="BFDBFE"/>
            </a:solidFill>
            <a:prstDash val="solid"/>
          </a:ln>
        </p:spPr>
      </p:sp>
      <p:sp>
        <p:nvSpPr>
          <p:cNvPr id="5" name="Text 3"/>
          <p:cNvSpPr/>
          <p:nvPr/>
        </p:nvSpPr>
        <p:spPr>
          <a:xfrm>
            <a:off x="457200" y="914400"/>
            <a:ext cx="8229600" cy="640080"/>
          </a:xfrm>
          <a:prstGeom prst="rect">
            <a:avLst/>
          </a:prstGeom>
          <a:noFill/>
          <a:ln/>
        </p:spPr>
        <p:txBody>
          <a:bodyPr wrap="square" rtlCol="0" anchor="ctr"/>
          <a:lstStyle/>
          <a:p>
            <a:pPr marL="0" indent="0">
              <a:buNone/>
            </a:pPr>
            <a:r>
              <a:rPr lang="en-US" sz="1100" dirty="0">
                <a:solidFill>
                  <a:srgbClr val="1A3A5C"/>
                </a:solidFill>
                <a:latin typeface="Calibri" pitchFamily="34" charset="0"/>
                <a:ea typeface="Calibri" pitchFamily="34" charset="-122"/>
                <a:cs typeface="Calibri" pitchFamily="34" charset="-120"/>
              </a:rPr>
              <a:t>¿Qué se ve aquí? Las líneas que bajan = el error disminuye (el modelo aprende). Las que suben = la precisión mejora. Si las curvas son suaves = modelo estable. Si tienen picos = inestable.</a:t>
            </a:r>
            <a:endParaRPr lang="en-US" sz="1100" dirty="0"/>
          </a:p>
        </p:txBody>
      </p:sp>
      <p:sp>
        <p:nvSpPr>
          <p:cNvPr id="6" name="Shape 4"/>
          <p:cNvSpPr/>
          <p:nvPr/>
        </p:nvSpPr>
        <p:spPr>
          <a:xfrm>
            <a:off x="274320" y="1691640"/>
            <a:ext cx="2651760" cy="365760"/>
          </a:xfrm>
          <a:prstGeom prst="rect">
            <a:avLst/>
          </a:prstGeom>
          <a:solidFill>
            <a:srgbClr val="0D9488"/>
          </a:solidFill>
          <a:ln w="12700">
            <a:solidFill>
              <a:srgbClr val="0D9488"/>
            </a:solidFill>
            <a:prstDash val="solid"/>
          </a:ln>
        </p:spPr>
      </p:sp>
      <p:sp>
        <p:nvSpPr>
          <p:cNvPr id="7" name="Text 5"/>
          <p:cNvSpPr/>
          <p:nvPr/>
        </p:nvSpPr>
        <p:spPr>
          <a:xfrm>
            <a:off x="274320" y="1691640"/>
            <a:ext cx="2651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Nano</a:t>
            </a:r>
            <a:endParaRPr lang="en-US" sz="1300" dirty="0"/>
          </a:p>
        </p:txBody>
      </p:sp>
      <p:sp>
        <p:nvSpPr>
          <p:cNvPr id="9" name="Text 7"/>
          <p:cNvSpPr/>
          <p:nvPr/>
        </p:nvSpPr>
        <p:spPr>
          <a:xfrm>
            <a:off x="274320" y="2075688"/>
            <a:ext cx="2651760" cy="1645920"/>
          </a:xfrm>
          <a:prstGeom prst="rect">
            <a:avLst/>
          </a:prstGeom>
          <a:noFill/>
          <a:ln/>
        </p:spPr>
        <p:txBody>
          <a:bodyPr wrap="square" rtlCol="0" anchor="ctr"/>
          <a:lstStyle/>
          <a:p>
            <a:pPr marL="0" indent="0" algn="ctr">
              <a:buNone/>
            </a:pPr>
            <a:endParaRPr lang="en-US" sz="1100" dirty="0"/>
          </a:p>
        </p:txBody>
      </p:sp>
      <p:sp>
        <p:nvSpPr>
          <p:cNvPr id="10" name="Shape 8"/>
          <p:cNvSpPr/>
          <p:nvPr/>
        </p:nvSpPr>
        <p:spPr>
          <a:xfrm>
            <a:off x="274320" y="3749040"/>
            <a:ext cx="2651760" cy="1097280"/>
          </a:xfrm>
          <a:prstGeom prst="rect">
            <a:avLst/>
          </a:prstGeom>
          <a:solidFill>
            <a:srgbClr val="F1F5F9"/>
          </a:solidFill>
          <a:ln w="12700">
            <a:solidFill>
              <a:srgbClr val="E2E8F0"/>
            </a:solidFill>
            <a:prstDash val="solid"/>
          </a:ln>
        </p:spPr>
      </p:sp>
      <p:sp>
        <p:nvSpPr>
          <p:cNvPr id="11" name="Text 9"/>
          <p:cNvSpPr/>
          <p:nvPr/>
        </p:nvSpPr>
        <p:spPr>
          <a:xfrm>
            <a:off x="365760" y="3794760"/>
            <a:ext cx="2468880" cy="10058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Curvas suaves y estables. Aprendió bien en las 50 épocas.</a:t>
            </a:r>
            <a:endParaRPr lang="en-US" sz="1100" dirty="0"/>
          </a:p>
        </p:txBody>
      </p:sp>
      <p:sp>
        <p:nvSpPr>
          <p:cNvPr id="12" name="Shape 10"/>
          <p:cNvSpPr/>
          <p:nvPr/>
        </p:nvSpPr>
        <p:spPr>
          <a:xfrm>
            <a:off x="3200400" y="1691640"/>
            <a:ext cx="2651760" cy="365760"/>
          </a:xfrm>
          <a:prstGeom prst="rect">
            <a:avLst/>
          </a:prstGeom>
          <a:solidFill>
            <a:srgbClr val="1E6FBF"/>
          </a:solidFill>
          <a:ln w="12700">
            <a:solidFill>
              <a:srgbClr val="1E6FBF"/>
            </a:solidFill>
            <a:prstDash val="solid"/>
          </a:ln>
        </p:spPr>
      </p:sp>
      <p:sp>
        <p:nvSpPr>
          <p:cNvPr id="13" name="Text 11"/>
          <p:cNvSpPr/>
          <p:nvPr/>
        </p:nvSpPr>
        <p:spPr>
          <a:xfrm>
            <a:off x="3200400" y="1691640"/>
            <a:ext cx="2651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Small </a:t>
            </a:r>
            <a:endParaRPr lang="en-US" sz="1300" dirty="0"/>
          </a:p>
        </p:txBody>
      </p:sp>
      <p:sp>
        <p:nvSpPr>
          <p:cNvPr id="14" name="Shape 12"/>
          <p:cNvSpPr/>
          <p:nvPr/>
        </p:nvSpPr>
        <p:spPr>
          <a:xfrm>
            <a:off x="3200400" y="2075688"/>
            <a:ext cx="2651760" cy="1645920"/>
          </a:xfrm>
          <a:prstGeom prst="rect">
            <a:avLst/>
          </a:prstGeom>
          <a:solidFill>
            <a:srgbClr val="F0F4FF"/>
          </a:solidFill>
          <a:ln w="12700">
            <a:solidFill>
              <a:srgbClr val="CBD5E1"/>
            </a:solidFill>
            <a:prstDash val="solid"/>
          </a:ln>
        </p:spPr>
      </p:sp>
      <p:sp>
        <p:nvSpPr>
          <p:cNvPr id="15" name="Text 13"/>
          <p:cNvSpPr/>
          <p:nvPr/>
        </p:nvSpPr>
        <p:spPr>
          <a:xfrm>
            <a:off x="3200400" y="2075688"/>
            <a:ext cx="2651760" cy="1645920"/>
          </a:xfrm>
          <a:prstGeom prst="rect">
            <a:avLst/>
          </a:prstGeom>
          <a:noFill/>
          <a:ln/>
        </p:spPr>
        <p:txBody>
          <a:bodyPr wrap="square" rtlCol="0" anchor="ctr"/>
          <a:lstStyle/>
          <a:p>
            <a:pPr marL="0" indent="0" algn="ctr">
              <a:buNone/>
            </a:pPr>
            <a:endParaRPr lang="en-US" sz="1100" dirty="0"/>
          </a:p>
        </p:txBody>
      </p:sp>
      <p:sp>
        <p:nvSpPr>
          <p:cNvPr id="16" name="Shape 14"/>
          <p:cNvSpPr/>
          <p:nvPr/>
        </p:nvSpPr>
        <p:spPr>
          <a:xfrm>
            <a:off x="3200400" y="3749040"/>
            <a:ext cx="2651760" cy="1097280"/>
          </a:xfrm>
          <a:prstGeom prst="rect">
            <a:avLst/>
          </a:prstGeom>
          <a:solidFill>
            <a:srgbClr val="F1F5F9"/>
          </a:solidFill>
          <a:ln w="12700">
            <a:solidFill>
              <a:srgbClr val="E2E8F0"/>
            </a:solidFill>
            <a:prstDash val="solid"/>
          </a:ln>
        </p:spPr>
      </p:sp>
      <p:sp>
        <p:nvSpPr>
          <p:cNvPr id="17" name="Text 15"/>
          <p:cNvSpPr/>
          <p:nvPr/>
        </p:nvSpPr>
        <p:spPr>
          <a:xfrm>
            <a:off x="3291840" y="3794760"/>
            <a:ext cx="2468880" cy="10058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Las curvas más limpias de los 3. Aprendizaje muy estable. </a:t>
            </a:r>
            <a:endParaRPr lang="en-US" sz="1100" dirty="0"/>
          </a:p>
        </p:txBody>
      </p:sp>
      <p:sp>
        <p:nvSpPr>
          <p:cNvPr id="18" name="Shape 16"/>
          <p:cNvSpPr/>
          <p:nvPr/>
        </p:nvSpPr>
        <p:spPr>
          <a:xfrm>
            <a:off x="6126480" y="1691640"/>
            <a:ext cx="2651760" cy="365760"/>
          </a:xfrm>
          <a:prstGeom prst="rect">
            <a:avLst/>
          </a:prstGeom>
          <a:solidFill>
            <a:srgbClr val="7C3AED"/>
          </a:solidFill>
          <a:ln w="12700">
            <a:solidFill>
              <a:srgbClr val="7C3AED"/>
            </a:solidFill>
            <a:prstDash val="solid"/>
          </a:ln>
        </p:spPr>
      </p:sp>
      <p:sp>
        <p:nvSpPr>
          <p:cNvPr id="19" name="Text 17"/>
          <p:cNvSpPr/>
          <p:nvPr/>
        </p:nvSpPr>
        <p:spPr>
          <a:xfrm>
            <a:off x="6126480" y="1691640"/>
            <a:ext cx="2651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Medium</a:t>
            </a:r>
            <a:endParaRPr lang="en-US" sz="1300" dirty="0"/>
          </a:p>
        </p:txBody>
      </p:sp>
      <p:sp>
        <p:nvSpPr>
          <p:cNvPr id="20" name="Shape 18"/>
          <p:cNvSpPr/>
          <p:nvPr/>
        </p:nvSpPr>
        <p:spPr>
          <a:xfrm>
            <a:off x="6126480" y="2075688"/>
            <a:ext cx="2651760" cy="1645920"/>
          </a:xfrm>
          <a:prstGeom prst="rect">
            <a:avLst/>
          </a:prstGeom>
          <a:solidFill>
            <a:srgbClr val="F0F4FF"/>
          </a:solidFill>
          <a:ln w="12700">
            <a:solidFill>
              <a:srgbClr val="CBD5E1"/>
            </a:solidFill>
            <a:prstDash val="solid"/>
          </a:ln>
        </p:spPr>
      </p:sp>
      <p:sp>
        <p:nvSpPr>
          <p:cNvPr id="21" name="Text 19"/>
          <p:cNvSpPr/>
          <p:nvPr/>
        </p:nvSpPr>
        <p:spPr>
          <a:xfrm>
            <a:off x="6126480" y="2075688"/>
            <a:ext cx="2651760" cy="1645920"/>
          </a:xfrm>
          <a:prstGeom prst="rect">
            <a:avLst/>
          </a:prstGeom>
          <a:noFill/>
          <a:ln/>
        </p:spPr>
        <p:txBody>
          <a:bodyPr wrap="square" rtlCol="0" anchor="ctr"/>
          <a:lstStyle/>
          <a:p>
            <a:pPr marL="0" indent="0" algn="ctr">
              <a:buNone/>
            </a:pPr>
            <a:endParaRPr lang="en-US" sz="1100" dirty="0"/>
          </a:p>
        </p:txBody>
      </p:sp>
      <p:sp>
        <p:nvSpPr>
          <p:cNvPr id="22" name="Shape 20"/>
          <p:cNvSpPr/>
          <p:nvPr/>
        </p:nvSpPr>
        <p:spPr>
          <a:xfrm>
            <a:off x="6126480" y="3749040"/>
            <a:ext cx="2651760" cy="1097280"/>
          </a:xfrm>
          <a:prstGeom prst="rect">
            <a:avLst/>
          </a:prstGeom>
          <a:solidFill>
            <a:srgbClr val="F1F5F9"/>
          </a:solidFill>
          <a:ln w="12700">
            <a:solidFill>
              <a:srgbClr val="E2E8F0"/>
            </a:solidFill>
            <a:prstDash val="solid"/>
          </a:ln>
        </p:spPr>
      </p:sp>
      <p:sp>
        <p:nvSpPr>
          <p:cNvPr id="23" name="Text 21"/>
          <p:cNvSpPr/>
          <p:nvPr/>
        </p:nvSpPr>
        <p:spPr>
          <a:xfrm>
            <a:off x="6217920" y="3794760"/>
            <a:ext cx="2468880" cy="10058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Tuvo picos bruscos en validación. Señal de inestabilidad.</a:t>
            </a:r>
            <a:endParaRPr lang="en-US" sz="1100" dirty="0"/>
          </a:p>
        </p:txBody>
      </p:sp>
      <p:pic>
        <p:nvPicPr>
          <p:cNvPr id="24" name="Imagen 23">
            <a:extLst>
              <a:ext uri="{FF2B5EF4-FFF2-40B4-BE49-F238E27FC236}">
                <a16:creationId xmlns:a16="http://schemas.microsoft.com/office/drawing/2014/main" id="{F9AD723E-0F45-4887-844A-39530A93BF83}"/>
              </a:ext>
            </a:extLst>
          </p:cNvPr>
          <p:cNvPicPr/>
          <p:nvPr/>
        </p:nvPicPr>
        <p:blipFill>
          <a:blip r:embed="rId3"/>
          <a:stretch>
            <a:fillRect/>
          </a:stretch>
        </p:blipFill>
        <p:spPr>
          <a:xfrm>
            <a:off x="457200" y="2125980"/>
            <a:ext cx="1840727" cy="1402411"/>
          </a:xfrm>
          <a:prstGeom prst="rect">
            <a:avLst/>
          </a:prstGeom>
        </p:spPr>
      </p:pic>
      <p:pic>
        <p:nvPicPr>
          <p:cNvPr id="25" name="Imagen 24">
            <a:extLst>
              <a:ext uri="{FF2B5EF4-FFF2-40B4-BE49-F238E27FC236}">
                <a16:creationId xmlns:a16="http://schemas.microsoft.com/office/drawing/2014/main" id="{B1576F70-5936-4F9C-9621-499661F71814}"/>
              </a:ext>
            </a:extLst>
          </p:cNvPr>
          <p:cNvPicPr/>
          <p:nvPr/>
        </p:nvPicPr>
        <p:blipFill>
          <a:blip r:embed="rId4"/>
          <a:stretch>
            <a:fillRect/>
          </a:stretch>
        </p:blipFill>
        <p:spPr>
          <a:xfrm>
            <a:off x="3555599" y="2194560"/>
            <a:ext cx="1941361" cy="1402411"/>
          </a:xfrm>
          <a:prstGeom prst="rect">
            <a:avLst/>
          </a:prstGeom>
        </p:spPr>
      </p:pic>
      <p:pic>
        <p:nvPicPr>
          <p:cNvPr id="26" name="Imagen 25">
            <a:extLst>
              <a:ext uri="{FF2B5EF4-FFF2-40B4-BE49-F238E27FC236}">
                <a16:creationId xmlns:a16="http://schemas.microsoft.com/office/drawing/2014/main" id="{B0B953D3-8039-4711-85F1-6F22B924212A}"/>
              </a:ext>
            </a:extLst>
          </p:cNvPr>
          <p:cNvPicPr/>
          <p:nvPr/>
        </p:nvPicPr>
        <p:blipFill>
          <a:blip r:embed="rId5"/>
          <a:stretch>
            <a:fillRect/>
          </a:stretch>
        </p:blipFill>
        <p:spPr>
          <a:xfrm>
            <a:off x="6524418" y="2278544"/>
            <a:ext cx="1855884" cy="109728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1628"/>
          </a:solidFill>
          <a:ln w="12700">
            <a:solidFill>
              <a:srgbClr val="0A1628"/>
            </a:solidFill>
            <a:prstDash val="solid"/>
          </a:ln>
        </p:spPr>
      </p:sp>
      <p:sp>
        <p:nvSpPr>
          <p:cNvPr id="3" name="Text 1"/>
          <p:cNvSpPr/>
          <p:nvPr/>
        </p:nvSpPr>
        <p:spPr>
          <a:xfrm>
            <a:off x="274320" y="0"/>
            <a:ext cx="8595360" cy="82296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  Implementación Funcional — Prueba con Imagen Real</a:t>
            </a:r>
            <a:endParaRPr lang="en-US" sz="1900" dirty="0"/>
          </a:p>
        </p:txBody>
      </p:sp>
      <p:sp>
        <p:nvSpPr>
          <p:cNvPr id="4" name="Shape 2"/>
          <p:cNvSpPr/>
          <p:nvPr/>
        </p:nvSpPr>
        <p:spPr>
          <a:xfrm>
            <a:off x="274320" y="914400"/>
            <a:ext cx="8595360" cy="594360"/>
          </a:xfrm>
          <a:prstGeom prst="rect">
            <a:avLst/>
          </a:prstGeom>
          <a:solidFill>
            <a:srgbClr val="EFF6FF"/>
          </a:solidFill>
          <a:ln w="12700">
            <a:solidFill>
              <a:srgbClr val="BFDBFE"/>
            </a:solidFill>
            <a:prstDash val="solid"/>
          </a:ln>
        </p:spPr>
      </p:sp>
      <p:sp>
        <p:nvSpPr>
          <p:cNvPr id="5" name="Text 3"/>
          <p:cNvSpPr/>
          <p:nvPr/>
        </p:nvSpPr>
        <p:spPr>
          <a:xfrm>
            <a:off x="457200" y="914400"/>
            <a:ext cx="8229600" cy="594360"/>
          </a:xfrm>
          <a:prstGeom prst="rect">
            <a:avLst/>
          </a:prstGeom>
          <a:noFill/>
          <a:ln/>
        </p:spPr>
        <p:txBody>
          <a:bodyPr wrap="square" rtlCol="0" anchor="ctr"/>
          <a:lstStyle/>
          <a:p>
            <a:pPr marL="0" indent="0">
              <a:buNone/>
            </a:pPr>
            <a:r>
              <a:rPr lang="en-US" sz="1200" dirty="0">
                <a:solidFill>
                  <a:srgbClr val="1A3A5C"/>
                </a:solidFill>
                <a:latin typeface="Calibri" pitchFamily="34" charset="0"/>
                <a:ea typeface="Calibri" pitchFamily="34" charset="-122"/>
                <a:cs typeface="Calibri" pitchFamily="34" charset="-120"/>
              </a:rPr>
              <a:t>Se probó el modelo con una imagen MRI que nunca había visto. El recuadro azul marca la zona donde detectó el tumor. El número es la confianza del modelo.</a:t>
            </a:r>
            <a:endParaRPr lang="en-US" sz="1200" dirty="0"/>
          </a:p>
        </p:txBody>
      </p:sp>
      <p:sp>
        <p:nvSpPr>
          <p:cNvPr id="6" name="Shape 4"/>
          <p:cNvSpPr/>
          <p:nvPr/>
        </p:nvSpPr>
        <p:spPr>
          <a:xfrm>
            <a:off x="274320" y="1645920"/>
            <a:ext cx="2651760" cy="411480"/>
          </a:xfrm>
          <a:prstGeom prst="rect">
            <a:avLst/>
          </a:prstGeom>
          <a:solidFill>
            <a:srgbClr val="0D9488"/>
          </a:solidFill>
          <a:ln w="12700">
            <a:solidFill>
              <a:srgbClr val="0D9488"/>
            </a:solidFill>
            <a:prstDash val="solid"/>
          </a:ln>
        </p:spPr>
      </p:sp>
      <p:sp>
        <p:nvSpPr>
          <p:cNvPr id="7" name="Text 5"/>
          <p:cNvSpPr/>
          <p:nvPr/>
        </p:nvSpPr>
        <p:spPr>
          <a:xfrm>
            <a:off x="274320" y="1645920"/>
            <a:ext cx="265176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Nano</a:t>
            </a:r>
            <a:endParaRPr lang="en-US" sz="1400" dirty="0"/>
          </a:p>
        </p:txBody>
      </p:sp>
      <p:sp>
        <p:nvSpPr>
          <p:cNvPr id="8" name="Shape 6"/>
          <p:cNvSpPr/>
          <p:nvPr/>
        </p:nvSpPr>
        <p:spPr>
          <a:xfrm>
            <a:off x="274320" y="2075688"/>
            <a:ext cx="2651760" cy="2011680"/>
          </a:xfrm>
          <a:prstGeom prst="rect">
            <a:avLst/>
          </a:prstGeom>
          <a:solidFill>
            <a:srgbClr val="F0F4FF"/>
          </a:solidFill>
          <a:ln w="12700">
            <a:solidFill>
              <a:srgbClr val="CBD5E1"/>
            </a:solidFill>
            <a:prstDash val="solid"/>
          </a:ln>
        </p:spPr>
      </p:sp>
      <p:sp>
        <p:nvSpPr>
          <p:cNvPr id="9" name="Text 7"/>
          <p:cNvSpPr/>
          <p:nvPr/>
        </p:nvSpPr>
        <p:spPr>
          <a:xfrm>
            <a:off x="274320" y="2075688"/>
            <a:ext cx="2651760" cy="2011680"/>
          </a:xfrm>
          <a:prstGeom prst="rect">
            <a:avLst/>
          </a:prstGeom>
          <a:noFill/>
          <a:ln/>
        </p:spPr>
        <p:txBody>
          <a:bodyPr wrap="square" rtlCol="0" anchor="ctr"/>
          <a:lstStyle/>
          <a:p>
            <a:pPr marL="0" indent="0" algn="ctr">
              <a:buNone/>
            </a:pPr>
            <a:endParaRPr lang="en-US" sz="1200" dirty="0"/>
          </a:p>
        </p:txBody>
      </p:sp>
      <p:sp>
        <p:nvSpPr>
          <p:cNvPr id="10" name="Shape 8"/>
          <p:cNvSpPr/>
          <p:nvPr/>
        </p:nvSpPr>
        <p:spPr>
          <a:xfrm>
            <a:off x="274320" y="4114800"/>
            <a:ext cx="2651760" cy="685800"/>
          </a:xfrm>
          <a:prstGeom prst="rect">
            <a:avLst/>
          </a:prstGeom>
          <a:solidFill>
            <a:srgbClr val="F1F5F9"/>
          </a:solidFill>
          <a:ln w="12700">
            <a:solidFill>
              <a:srgbClr val="E2E8F0"/>
            </a:solidFill>
            <a:prstDash val="solid"/>
          </a:ln>
        </p:spPr>
      </p:sp>
      <p:sp>
        <p:nvSpPr>
          <p:cNvPr id="11" name="Text 9"/>
          <p:cNvSpPr/>
          <p:nvPr/>
        </p:nvSpPr>
        <p:spPr>
          <a:xfrm>
            <a:off x="365760" y="4133088"/>
            <a:ext cx="2468880" cy="64008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Clase detectada: </a:t>
            </a:r>
            <a:r>
              <a:rPr lang="en-US" sz="1100" b="1" dirty="0">
                <a:solidFill>
                  <a:srgbClr val="E53E3E"/>
                </a:solidFill>
                <a:latin typeface="Calibri" pitchFamily="34" charset="0"/>
                <a:ea typeface="Calibri" pitchFamily="34" charset="-122"/>
                <a:cs typeface="Calibri" pitchFamily="34" charset="-120"/>
              </a:rPr>
              <a:t>1 (positive = tumor)</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Confianza: </a:t>
            </a:r>
            <a:endParaRPr lang="en-US" sz="1100" dirty="0"/>
          </a:p>
          <a:p>
            <a:pPr marL="0" indent="0">
              <a:buNone/>
            </a:pPr>
            <a:r>
              <a:rPr lang="en-US" sz="1100" b="1" dirty="0">
                <a:solidFill>
                  <a:srgbClr val="0D9488"/>
                </a:solidFill>
                <a:latin typeface="Calibri" pitchFamily="34" charset="0"/>
                <a:ea typeface="Calibri" pitchFamily="34" charset="-122"/>
                <a:cs typeface="Calibri" pitchFamily="34" charset="-120"/>
              </a:rPr>
              <a:t>69% </a:t>
            </a:r>
            <a:endParaRPr lang="en-US" sz="1100" dirty="0"/>
          </a:p>
        </p:txBody>
      </p:sp>
      <p:sp>
        <p:nvSpPr>
          <p:cNvPr id="12" name="Shape 10"/>
          <p:cNvSpPr/>
          <p:nvPr/>
        </p:nvSpPr>
        <p:spPr>
          <a:xfrm>
            <a:off x="3200400" y="1645920"/>
            <a:ext cx="2651760" cy="411480"/>
          </a:xfrm>
          <a:prstGeom prst="rect">
            <a:avLst/>
          </a:prstGeom>
          <a:solidFill>
            <a:srgbClr val="1E6FBF"/>
          </a:solidFill>
          <a:ln w="12700">
            <a:solidFill>
              <a:srgbClr val="1E6FBF"/>
            </a:solidFill>
            <a:prstDash val="solid"/>
          </a:ln>
        </p:spPr>
      </p:sp>
      <p:sp>
        <p:nvSpPr>
          <p:cNvPr id="13" name="Text 11"/>
          <p:cNvSpPr/>
          <p:nvPr/>
        </p:nvSpPr>
        <p:spPr>
          <a:xfrm>
            <a:off x="3200400" y="1645920"/>
            <a:ext cx="265176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Small</a:t>
            </a:r>
            <a:endParaRPr lang="en-US" sz="1400" dirty="0"/>
          </a:p>
        </p:txBody>
      </p:sp>
      <p:sp>
        <p:nvSpPr>
          <p:cNvPr id="14" name="Shape 12"/>
          <p:cNvSpPr/>
          <p:nvPr/>
        </p:nvSpPr>
        <p:spPr>
          <a:xfrm>
            <a:off x="3200400" y="2075688"/>
            <a:ext cx="2651760" cy="2011680"/>
          </a:xfrm>
          <a:prstGeom prst="rect">
            <a:avLst/>
          </a:prstGeom>
          <a:solidFill>
            <a:srgbClr val="F0F4FF"/>
          </a:solidFill>
          <a:ln w="12700">
            <a:solidFill>
              <a:srgbClr val="CBD5E1"/>
            </a:solidFill>
            <a:prstDash val="solid"/>
          </a:ln>
        </p:spPr>
      </p:sp>
      <p:sp>
        <p:nvSpPr>
          <p:cNvPr id="15" name="Text 13"/>
          <p:cNvSpPr/>
          <p:nvPr/>
        </p:nvSpPr>
        <p:spPr>
          <a:xfrm>
            <a:off x="3200400" y="2075688"/>
            <a:ext cx="2651760" cy="2011680"/>
          </a:xfrm>
          <a:prstGeom prst="rect">
            <a:avLst/>
          </a:prstGeom>
          <a:noFill/>
          <a:ln/>
        </p:spPr>
        <p:txBody>
          <a:bodyPr wrap="square" rtlCol="0" anchor="ctr"/>
          <a:lstStyle/>
          <a:p>
            <a:pPr marL="0" indent="0" algn="ctr">
              <a:buNone/>
            </a:pPr>
            <a:endParaRPr lang="en-US" sz="1200" dirty="0"/>
          </a:p>
        </p:txBody>
      </p:sp>
      <p:sp>
        <p:nvSpPr>
          <p:cNvPr id="16" name="Shape 14"/>
          <p:cNvSpPr/>
          <p:nvPr/>
        </p:nvSpPr>
        <p:spPr>
          <a:xfrm>
            <a:off x="3200400" y="4114800"/>
            <a:ext cx="2651760" cy="685800"/>
          </a:xfrm>
          <a:prstGeom prst="rect">
            <a:avLst/>
          </a:prstGeom>
          <a:solidFill>
            <a:srgbClr val="F1F5F9"/>
          </a:solidFill>
          <a:ln w="12700">
            <a:solidFill>
              <a:srgbClr val="E2E8F0"/>
            </a:solidFill>
            <a:prstDash val="solid"/>
          </a:ln>
        </p:spPr>
      </p:sp>
      <p:sp>
        <p:nvSpPr>
          <p:cNvPr id="17" name="Text 15"/>
          <p:cNvSpPr/>
          <p:nvPr/>
        </p:nvSpPr>
        <p:spPr>
          <a:xfrm>
            <a:off x="3291840" y="4133088"/>
            <a:ext cx="2468880" cy="64008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Clase detectada: </a:t>
            </a:r>
            <a:r>
              <a:rPr lang="en-US" sz="1100" b="1" dirty="0">
                <a:solidFill>
                  <a:srgbClr val="E53E3E"/>
                </a:solidFill>
                <a:latin typeface="Calibri" pitchFamily="34" charset="0"/>
                <a:ea typeface="Calibri" pitchFamily="34" charset="-122"/>
                <a:cs typeface="Calibri" pitchFamily="34" charset="-120"/>
              </a:rPr>
              <a:t>1 (positive = tumor)</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Confianza: </a:t>
            </a:r>
            <a:endParaRPr lang="en-US" sz="1100" dirty="0"/>
          </a:p>
          <a:p>
            <a:pPr marL="0" indent="0">
              <a:buNone/>
            </a:pPr>
            <a:r>
              <a:rPr lang="en-US" sz="1100" b="1" dirty="0">
                <a:solidFill>
                  <a:srgbClr val="1E6FBF"/>
                </a:solidFill>
                <a:latin typeface="Calibri" pitchFamily="34" charset="0"/>
                <a:ea typeface="Calibri" pitchFamily="34" charset="-122"/>
                <a:cs typeface="Calibri" pitchFamily="34" charset="-120"/>
              </a:rPr>
              <a:t>52%</a:t>
            </a:r>
            <a:endParaRPr lang="en-US" sz="1100" dirty="0"/>
          </a:p>
        </p:txBody>
      </p:sp>
      <p:sp>
        <p:nvSpPr>
          <p:cNvPr id="18" name="Shape 16"/>
          <p:cNvSpPr/>
          <p:nvPr/>
        </p:nvSpPr>
        <p:spPr>
          <a:xfrm>
            <a:off x="6126480" y="1645920"/>
            <a:ext cx="2651760" cy="411480"/>
          </a:xfrm>
          <a:prstGeom prst="rect">
            <a:avLst/>
          </a:prstGeom>
          <a:solidFill>
            <a:srgbClr val="7C3AED"/>
          </a:solidFill>
          <a:ln w="12700">
            <a:solidFill>
              <a:srgbClr val="7C3AED"/>
            </a:solidFill>
            <a:prstDash val="solid"/>
          </a:ln>
        </p:spPr>
      </p:sp>
      <p:sp>
        <p:nvSpPr>
          <p:cNvPr id="19" name="Text 17"/>
          <p:cNvSpPr/>
          <p:nvPr/>
        </p:nvSpPr>
        <p:spPr>
          <a:xfrm>
            <a:off x="6126480" y="1645920"/>
            <a:ext cx="265176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Medium</a:t>
            </a:r>
            <a:endParaRPr lang="en-US" sz="1400" dirty="0"/>
          </a:p>
        </p:txBody>
      </p:sp>
      <p:sp>
        <p:nvSpPr>
          <p:cNvPr id="20" name="Shape 18"/>
          <p:cNvSpPr/>
          <p:nvPr/>
        </p:nvSpPr>
        <p:spPr>
          <a:xfrm>
            <a:off x="6126480" y="2075688"/>
            <a:ext cx="2651760" cy="2011680"/>
          </a:xfrm>
          <a:prstGeom prst="rect">
            <a:avLst/>
          </a:prstGeom>
          <a:solidFill>
            <a:srgbClr val="F0F4FF"/>
          </a:solidFill>
          <a:ln w="12700">
            <a:solidFill>
              <a:srgbClr val="CBD5E1"/>
            </a:solidFill>
            <a:prstDash val="solid"/>
          </a:ln>
        </p:spPr>
        <p:txBody>
          <a:bodyPr/>
          <a:lstStyle/>
          <a:p>
            <a:endParaRPr lang="es-MX" dirty="0"/>
          </a:p>
        </p:txBody>
      </p:sp>
      <p:sp>
        <p:nvSpPr>
          <p:cNvPr id="21" name="Text 19"/>
          <p:cNvSpPr/>
          <p:nvPr/>
        </p:nvSpPr>
        <p:spPr>
          <a:xfrm>
            <a:off x="6126480" y="2075688"/>
            <a:ext cx="2651760" cy="2011680"/>
          </a:xfrm>
          <a:prstGeom prst="rect">
            <a:avLst/>
          </a:prstGeom>
          <a:noFill/>
          <a:ln/>
        </p:spPr>
        <p:txBody>
          <a:bodyPr wrap="square" rtlCol="0" anchor="ctr"/>
          <a:lstStyle/>
          <a:p>
            <a:pPr marL="0" indent="0" algn="ctr">
              <a:buNone/>
            </a:pPr>
            <a:endParaRPr lang="en-US" sz="1200" dirty="0"/>
          </a:p>
        </p:txBody>
      </p:sp>
      <p:sp>
        <p:nvSpPr>
          <p:cNvPr id="22" name="Shape 20"/>
          <p:cNvSpPr/>
          <p:nvPr/>
        </p:nvSpPr>
        <p:spPr>
          <a:xfrm>
            <a:off x="6126480" y="4114800"/>
            <a:ext cx="2651760" cy="685800"/>
          </a:xfrm>
          <a:prstGeom prst="rect">
            <a:avLst/>
          </a:prstGeom>
          <a:solidFill>
            <a:srgbClr val="F1F5F9"/>
          </a:solidFill>
          <a:ln w="12700">
            <a:solidFill>
              <a:srgbClr val="E2E8F0"/>
            </a:solidFill>
            <a:prstDash val="solid"/>
          </a:ln>
        </p:spPr>
      </p:sp>
      <p:sp>
        <p:nvSpPr>
          <p:cNvPr id="23" name="Text 21"/>
          <p:cNvSpPr/>
          <p:nvPr/>
        </p:nvSpPr>
        <p:spPr>
          <a:xfrm>
            <a:off x="6217920" y="4133088"/>
            <a:ext cx="2468880" cy="64008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Clase detectada: </a:t>
            </a:r>
            <a:r>
              <a:rPr lang="en-US" sz="1100" b="1" dirty="0">
                <a:solidFill>
                  <a:srgbClr val="E53E3E"/>
                </a:solidFill>
                <a:latin typeface="Calibri" pitchFamily="34" charset="0"/>
                <a:ea typeface="Calibri" pitchFamily="34" charset="-122"/>
                <a:cs typeface="Calibri" pitchFamily="34" charset="-120"/>
              </a:rPr>
              <a:t>1 (positive = tumor)</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Confianza: </a:t>
            </a:r>
            <a:endParaRPr lang="en-US" sz="1100" dirty="0"/>
          </a:p>
          <a:p>
            <a:pPr marL="0" indent="0">
              <a:buNone/>
            </a:pPr>
            <a:r>
              <a:rPr lang="en-US" sz="1100" b="1" dirty="0">
                <a:solidFill>
                  <a:srgbClr val="7C3AED"/>
                </a:solidFill>
                <a:latin typeface="Calibri" pitchFamily="34" charset="0"/>
                <a:ea typeface="Calibri" pitchFamily="34" charset="-122"/>
                <a:cs typeface="Calibri" pitchFamily="34" charset="-120"/>
              </a:rPr>
              <a:t>52%</a:t>
            </a:r>
            <a:endParaRPr lang="en-US" sz="1100" dirty="0"/>
          </a:p>
        </p:txBody>
      </p:sp>
      <p:pic>
        <p:nvPicPr>
          <p:cNvPr id="24" name="Imagen 23">
            <a:extLst>
              <a:ext uri="{FF2B5EF4-FFF2-40B4-BE49-F238E27FC236}">
                <a16:creationId xmlns:a16="http://schemas.microsoft.com/office/drawing/2014/main" id="{CB2AB60F-EF7E-4F3B-8937-4A2E4D0E9B8C}"/>
              </a:ext>
            </a:extLst>
          </p:cNvPr>
          <p:cNvPicPr/>
          <p:nvPr/>
        </p:nvPicPr>
        <p:blipFill>
          <a:blip r:embed="rId3"/>
          <a:stretch>
            <a:fillRect/>
          </a:stretch>
        </p:blipFill>
        <p:spPr>
          <a:xfrm>
            <a:off x="834907" y="2194560"/>
            <a:ext cx="1530585" cy="1727168"/>
          </a:xfrm>
          <a:prstGeom prst="rect">
            <a:avLst/>
          </a:prstGeom>
        </p:spPr>
      </p:pic>
      <p:pic>
        <p:nvPicPr>
          <p:cNvPr id="25" name="Imagen 24">
            <a:extLst>
              <a:ext uri="{FF2B5EF4-FFF2-40B4-BE49-F238E27FC236}">
                <a16:creationId xmlns:a16="http://schemas.microsoft.com/office/drawing/2014/main" id="{FD8E1125-99AE-475A-A469-3FE3B810E5C1}"/>
              </a:ext>
            </a:extLst>
          </p:cNvPr>
          <p:cNvPicPr/>
          <p:nvPr/>
        </p:nvPicPr>
        <p:blipFill>
          <a:blip r:embed="rId4"/>
          <a:stretch>
            <a:fillRect/>
          </a:stretch>
        </p:blipFill>
        <p:spPr>
          <a:xfrm>
            <a:off x="3693443" y="2262146"/>
            <a:ext cx="1530585" cy="1517788"/>
          </a:xfrm>
          <a:prstGeom prst="rect">
            <a:avLst/>
          </a:prstGeom>
        </p:spPr>
      </p:pic>
      <p:pic>
        <p:nvPicPr>
          <p:cNvPr id="26" name="Imagen 25">
            <a:extLst>
              <a:ext uri="{FF2B5EF4-FFF2-40B4-BE49-F238E27FC236}">
                <a16:creationId xmlns:a16="http://schemas.microsoft.com/office/drawing/2014/main" id="{67746060-0E0E-4D12-9B59-7E7B94102539}"/>
              </a:ext>
            </a:extLst>
          </p:cNvPr>
          <p:cNvPicPr/>
          <p:nvPr/>
        </p:nvPicPr>
        <p:blipFill>
          <a:blip r:embed="rId5"/>
          <a:stretch>
            <a:fillRect/>
          </a:stretch>
        </p:blipFill>
        <p:spPr>
          <a:xfrm>
            <a:off x="6450496" y="2222257"/>
            <a:ext cx="1962150" cy="171854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w="12700">
            <a:solidFill>
              <a:srgbClr val="0A1628"/>
            </a:solidFill>
            <a:prstDash val="solid"/>
          </a:ln>
        </p:spPr>
      </p:sp>
      <p:sp>
        <p:nvSpPr>
          <p:cNvPr id="3" name="Shape 1"/>
          <p:cNvSpPr/>
          <p:nvPr/>
        </p:nvSpPr>
        <p:spPr>
          <a:xfrm>
            <a:off x="0" y="0"/>
            <a:ext cx="9144000" cy="54864"/>
          </a:xfrm>
          <a:prstGeom prst="rect">
            <a:avLst/>
          </a:prstGeom>
          <a:solidFill>
            <a:srgbClr val="00D4AA"/>
          </a:solidFill>
          <a:ln w="12700">
            <a:solidFill>
              <a:srgbClr val="00D4AA"/>
            </a:solidFill>
            <a:prstDash val="solid"/>
          </a:ln>
        </p:spPr>
      </p:sp>
      <p:sp>
        <p:nvSpPr>
          <p:cNvPr id="4" name="Text 2"/>
          <p:cNvSpPr/>
          <p:nvPr/>
        </p:nvSpPr>
        <p:spPr>
          <a:xfrm>
            <a:off x="457200" y="182880"/>
            <a:ext cx="822960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  Conclusiones</a:t>
            </a:r>
            <a:endParaRPr lang="en-US" sz="2600" dirty="0"/>
          </a:p>
        </p:txBody>
      </p:sp>
      <p:sp>
        <p:nvSpPr>
          <p:cNvPr id="5" name="Shape 3"/>
          <p:cNvSpPr/>
          <p:nvPr/>
        </p:nvSpPr>
        <p:spPr>
          <a:xfrm>
            <a:off x="274320" y="1005840"/>
            <a:ext cx="2651760" cy="2377440"/>
          </a:xfrm>
          <a:prstGeom prst="rect">
            <a:avLst/>
          </a:prstGeom>
          <a:solidFill>
            <a:srgbClr val="1A3A5C"/>
          </a:solidFill>
          <a:ln w="12700">
            <a:solidFill>
              <a:srgbClr val="2A4A6B"/>
            </a:solidFill>
            <a:prstDash val="solid"/>
          </a:ln>
          <a:effectLst>
            <a:outerShdw blurRad="101600" dist="38100" dir="8100000" algn="bl" rotWithShape="0">
              <a:srgbClr val="000000">
                <a:alpha val="12000"/>
              </a:srgbClr>
            </a:outerShdw>
          </a:effectLst>
        </p:spPr>
      </p:sp>
      <p:sp>
        <p:nvSpPr>
          <p:cNvPr id="6" name="Shape 4"/>
          <p:cNvSpPr/>
          <p:nvPr/>
        </p:nvSpPr>
        <p:spPr>
          <a:xfrm>
            <a:off x="274320" y="1005840"/>
            <a:ext cx="2651760" cy="502920"/>
          </a:xfrm>
          <a:prstGeom prst="rect">
            <a:avLst/>
          </a:prstGeom>
          <a:solidFill>
            <a:srgbClr val="0D9488"/>
          </a:solidFill>
          <a:ln w="12700">
            <a:solidFill>
              <a:srgbClr val="0D9488"/>
            </a:solidFill>
            <a:prstDash val="solid"/>
          </a:ln>
        </p:spPr>
      </p:sp>
      <p:sp>
        <p:nvSpPr>
          <p:cNvPr id="7" name="Text 5"/>
          <p:cNvSpPr/>
          <p:nvPr/>
        </p:nvSpPr>
        <p:spPr>
          <a:xfrm>
            <a:off x="274320" y="1005840"/>
            <a:ext cx="2651760" cy="5029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Mejor modelo general</a:t>
            </a:r>
            <a:endParaRPr lang="en-US" sz="1200" dirty="0"/>
          </a:p>
        </p:txBody>
      </p:sp>
      <p:sp>
        <p:nvSpPr>
          <p:cNvPr id="8" name="Text 6"/>
          <p:cNvSpPr/>
          <p:nvPr/>
        </p:nvSpPr>
        <p:spPr>
          <a:xfrm>
            <a:off x="411480" y="1572768"/>
            <a:ext cx="2377440" cy="1737360"/>
          </a:xfrm>
          <a:prstGeom prst="rect">
            <a:avLst/>
          </a:prstGeom>
          <a:noFill/>
          <a:ln/>
        </p:spPr>
        <p:txBody>
          <a:bodyPr wrap="square" rtlCol="0" anchor="t"/>
          <a:lstStyle/>
          <a:p>
            <a:pPr marL="0" indent="0">
              <a:buNone/>
            </a:pPr>
            <a:r>
              <a:rPr lang="en-US" sz="1200" dirty="0">
                <a:solidFill>
                  <a:srgbClr val="A0C4E8"/>
                </a:solidFill>
                <a:latin typeface="Calibri" pitchFamily="34" charset="0"/>
                <a:ea typeface="Calibri" pitchFamily="34" charset="-122"/>
                <a:cs typeface="Calibri" pitchFamily="34" charset="-120"/>
              </a:rPr>
              <a:t>YOLOv8s (Small)</a:t>
            </a:r>
            <a:endParaRPr lang="en-US" sz="1200" dirty="0"/>
          </a:p>
          <a:p>
            <a:pPr marL="0" indent="0">
              <a:buNone/>
            </a:pPr>
            <a:r>
              <a:rPr lang="en-US" sz="1200" dirty="0">
                <a:solidFill>
                  <a:srgbClr val="A0C4E8"/>
                </a:solidFill>
                <a:latin typeface="Calibri" pitchFamily="34" charset="0"/>
                <a:ea typeface="Calibri" pitchFamily="34" charset="-122"/>
                <a:cs typeface="Calibri" pitchFamily="34" charset="-120"/>
              </a:rPr>
              <a:t>mAP@50: 0.721 — el más alto</a:t>
            </a:r>
            <a:endParaRPr lang="en-US" sz="1200" dirty="0"/>
          </a:p>
          <a:p>
            <a:pPr marL="0" indent="0">
              <a:buNone/>
            </a:pPr>
            <a:r>
              <a:rPr lang="en-US" sz="1200" dirty="0">
                <a:solidFill>
                  <a:srgbClr val="A0C4E8"/>
                </a:solidFill>
                <a:latin typeface="Calibri" pitchFamily="34" charset="0"/>
                <a:ea typeface="Calibri" pitchFamily="34" charset="-122"/>
                <a:cs typeface="Calibri" pitchFamily="34" charset="-120"/>
              </a:rPr>
              <a:t>Curvas más estables</a:t>
            </a:r>
            <a:endParaRPr lang="en-US" sz="1200" dirty="0"/>
          </a:p>
        </p:txBody>
      </p:sp>
      <p:sp>
        <p:nvSpPr>
          <p:cNvPr id="9" name="Shape 7"/>
          <p:cNvSpPr/>
          <p:nvPr/>
        </p:nvSpPr>
        <p:spPr>
          <a:xfrm>
            <a:off x="3200400" y="1005840"/>
            <a:ext cx="2651760" cy="2377440"/>
          </a:xfrm>
          <a:prstGeom prst="rect">
            <a:avLst/>
          </a:prstGeom>
          <a:solidFill>
            <a:srgbClr val="1A3A5C"/>
          </a:solidFill>
          <a:ln w="12700">
            <a:solidFill>
              <a:srgbClr val="2A4A6B"/>
            </a:solidFill>
            <a:prstDash val="solid"/>
          </a:ln>
          <a:effectLst>
            <a:outerShdw blurRad="101600" dist="38100" dir="8100000" algn="bl" rotWithShape="0">
              <a:srgbClr val="000000">
                <a:alpha val="12000"/>
              </a:srgbClr>
            </a:outerShdw>
          </a:effectLst>
        </p:spPr>
      </p:sp>
      <p:sp>
        <p:nvSpPr>
          <p:cNvPr id="10" name="Shape 8"/>
          <p:cNvSpPr/>
          <p:nvPr/>
        </p:nvSpPr>
        <p:spPr>
          <a:xfrm>
            <a:off x="3200400" y="1005840"/>
            <a:ext cx="2651760" cy="502920"/>
          </a:xfrm>
          <a:prstGeom prst="rect">
            <a:avLst/>
          </a:prstGeom>
          <a:solidFill>
            <a:srgbClr val="1E6FBF"/>
          </a:solidFill>
          <a:ln w="12700">
            <a:solidFill>
              <a:srgbClr val="1E6FBF"/>
            </a:solidFill>
            <a:prstDash val="solid"/>
          </a:ln>
        </p:spPr>
      </p:sp>
      <p:sp>
        <p:nvSpPr>
          <p:cNvPr id="11" name="Text 9"/>
          <p:cNvSpPr/>
          <p:nvPr/>
        </p:nvSpPr>
        <p:spPr>
          <a:xfrm>
            <a:off x="3200400" y="1005840"/>
            <a:ext cx="2651760" cy="5029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Mejor velocidad</a:t>
            </a:r>
            <a:endParaRPr lang="en-US" sz="1200" dirty="0"/>
          </a:p>
        </p:txBody>
      </p:sp>
      <p:sp>
        <p:nvSpPr>
          <p:cNvPr id="12" name="Text 10"/>
          <p:cNvSpPr/>
          <p:nvPr/>
        </p:nvSpPr>
        <p:spPr>
          <a:xfrm>
            <a:off x="3337560" y="1572768"/>
            <a:ext cx="2377440" cy="1737360"/>
          </a:xfrm>
          <a:prstGeom prst="rect">
            <a:avLst/>
          </a:prstGeom>
          <a:noFill/>
          <a:ln/>
        </p:spPr>
        <p:txBody>
          <a:bodyPr wrap="square" rtlCol="0" anchor="t"/>
          <a:lstStyle/>
          <a:p>
            <a:pPr marL="0" indent="0">
              <a:buNone/>
            </a:pPr>
            <a:r>
              <a:rPr lang="en-US" sz="1200" dirty="0">
                <a:solidFill>
                  <a:srgbClr val="A0C4E8"/>
                </a:solidFill>
                <a:latin typeface="Calibri" pitchFamily="34" charset="0"/>
                <a:ea typeface="Calibri" pitchFamily="34" charset="-122"/>
                <a:cs typeface="Calibri" pitchFamily="34" charset="-120"/>
              </a:rPr>
              <a:t>YOLOv8n (Nano)</a:t>
            </a:r>
            <a:endParaRPr lang="en-US" sz="1200" dirty="0"/>
          </a:p>
          <a:p>
            <a:pPr marL="0" indent="0">
              <a:buNone/>
            </a:pPr>
            <a:r>
              <a:rPr lang="en-US" sz="1200" dirty="0">
                <a:solidFill>
                  <a:srgbClr val="A0C4E8"/>
                </a:solidFill>
                <a:latin typeface="Calibri" pitchFamily="34" charset="0"/>
                <a:ea typeface="Calibri" pitchFamily="34" charset="-122"/>
                <a:cs typeface="Calibri" pitchFamily="34" charset="-120"/>
              </a:rPr>
              <a:t>Mismos resultados F1 (0.68)</a:t>
            </a:r>
            <a:endParaRPr lang="en-US" sz="1200" dirty="0"/>
          </a:p>
          <a:p>
            <a:pPr marL="0" indent="0">
              <a:buNone/>
            </a:pPr>
            <a:r>
              <a:rPr lang="en-US" sz="1200" dirty="0">
                <a:solidFill>
                  <a:srgbClr val="A0C4E8"/>
                </a:solidFill>
                <a:latin typeface="Calibri" pitchFamily="34" charset="0"/>
                <a:ea typeface="Calibri" pitchFamily="34" charset="-122"/>
                <a:cs typeface="Calibri" pitchFamily="34" charset="-120"/>
              </a:rPr>
              <a:t>Mayor confianza: 69%</a:t>
            </a:r>
            <a:endParaRPr lang="en-US" sz="1200" dirty="0"/>
          </a:p>
        </p:txBody>
      </p:sp>
      <p:sp>
        <p:nvSpPr>
          <p:cNvPr id="13" name="Shape 11"/>
          <p:cNvSpPr/>
          <p:nvPr/>
        </p:nvSpPr>
        <p:spPr>
          <a:xfrm>
            <a:off x="6126480" y="1005840"/>
            <a:ext cx="2651760" cy="2377440"/>
          </a:xfrm>
          <a:prstGeom prst="rect">
            <a:avLst/>
          </a:prstGeom>
          <a:solidFill>
            <a:srgbClr val="1A3A5C"/>
          </a:solidFill>
          <a:ln w="12700">
            <a:solidFill>
              <a:srgbClr val="2A4A6B"/>
            </a:solidFill>
            <a:prstDash val="solid"/>
          </a:ln>
          <a:effectLst>
            <a:outerShdw blurRad="101600" dist="38100" dir="8100000" algn="bl" rotWithShape="0">
              <a:srgbClr val="000000">
                <a:alpha val="12000"/>
              </a:srgbClr>
            </a:outerShdw>
          </a:effectLst>
        </p:spPr>
      </p:sp>
      <p:sp>
        <p:nvSpPr>
          <p:cNvPr id="14" name="Shape 12"/>
          <p:cNvSpPr/>
          <p:nvPr/>
        </p:nvSpPr>
        <p:spPr>
          <a:xfrm>
            <a:off x="6126480" y="1005840"/>
            <a:ext cx="2651760" cy="502920"/>
          </a:xfrm>
          <a:prstGeom prst="rect">
            <a:avLst/>
          </a:prstGeom>
          <a:solidFill>
            <a:srgbClr val="E53E3E"/>
          </a:solidFill>
          <a:ln w="12700">
            <a:solidFill>
              <a:srgbClr val="E53E3E"/>
            </a:solidFill>
            <a:prstDash val="solid"/>
          </a:ln>
        </p:spPr>
      </p:sp>
      <p:sp>
        <p:nvSpPr>
          <p:cNvPr id="15" name="Text 13"/>
          <p:cNvSpPr/>
          <p:nvPr/>
        </p:nvSpPr>
        <p:spPr>
          <a:xfrm>
            <a:off x="6126480" y="1005840"/>
            <a:ext cx="2651760" cy="5029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Peor rendimiento</a:t>
            </a:r>
            <a:endParaRPr lang="en-US" sz="1200" dirty="0"/>
          </a:p>
        </p:txBody>
      </p:sp>
      <p:sp>
        <p:nvSpPr>
          <p:cNvPr id="16" name="Text 14"/>
          <p:cNvSpPr/>
          <p:nvPr/>
        </p:nvSpPr>
        <p:spPr>
          <a:xfrm>
            <a:off x="6263640" y="1572768"/>
            <a:ext cx="2377440" cy="1737360"/>
          </a:xfrm>
          <a:prstGeom prst="rect">
            <a:avLst/>
          </a:prstGeom>
          <a:noFill/>
          <a:ln/>
        </p:spPr>
        <p:txBody>
          <a:bodyPr wrap="square" rtlCol="0" anchor="t"/>
          <a:lstStyle/>
          <a:p>
            <a:pPr marL="0" indent="0">
              <a:buNone/>
            </a:pPr>
            <a:r>
              <a:rPr lang="en-US" sz="1200" dirty="0">
                <a:solidFill>
                  <a:srgbClr val="A0C4E8"/>
                </a:solidFill>
                <a:latin typeface="Calibri" pitchFamily="34" charset="0"/>
                <a:ea typeface="Calibri" pitchFamily="34" charset="-122"/>
                <a:cs typeface="Calibri" pitchFamily="34" charset="-120"/>
              </a:rPr>
              <a:t>YOLOv8m (Medium)</a:t>
            </a:r>
            <a:endParaRPr lang="en-US" sz="1200" dirty="0"/>
          </a:p>
          <a:p>
            <a:pPr marL="0" indent="0">
              <a:buNone/>
            </a:pPr>
            <a:r>
              <a:rPr lang="en-US" sz="1200" dirty="0">
                <a:solidFill>
                  <a:srgbClr val="A0C4E8"/>
                </a:solidFill>
                <a:latin typeface="Calibri" pitchFamily="34" charset="0"/>
                <a:ea typeface="Calibri" pitchFamily="34" charset="-122"/>
                <a:cs typeface="Calibri" pitchFamily="34" charset="-120"/>
              </a:rPr>
              <a:t>Dataset pequeño = sobreajuste</a:t>
            </a:r>
            <a:endParaRPr lang="en-US" sz="1200" dirty="0"/>
          </a:p>
          <a:p>
            <a:pPr marL="0" indent="0">
              <a:buNone/>
            </a:pPr>
            <a:r>
              <a:rPr lang="en-US" sz="1200" dirty="0">
                <a:solidFill>
                  <a:srgbClr val="A0C4E8"/>
                </a:solidFill>
                <a:latin typeface="Calibri" pitchFamily="34" charset="0"/>
                <a:ea typeface="Calibri" pitchFamily="34" charset="-122"/>
                <a:cs typeface="Calibri" pitchFamily="34" charset="-120"/>
              </a:rPr>
              <a:t>Más grande ≠ siempre mejor</a:t>
            </a:r>
            <a:endParaRPr lang="en-US" sz="1200" dirty="0"/>
          </a:p>
        </p:txBody>
      </p:sp>
      <p:sp>
        <p:nvSpPr>
          <p:cNvPr id="17" name="Shape 15"/>
          <p:cNvSpPr/>
          <p:nvPr/>
        </p:nvSpPr>
        <p:spPr>
          <a:xfrm>
            <a:off x="274320" y="3520440"/>
            <a:ext cx="8595360" cy="1280160"/>
          </a:xfrm>
          <a:prstGeom prst="rect">
            <a:avLst/>
          </a:prstGeom>
          <a:solidFill>
            <a:srgbClr val="1A3A5C"/>
          </a:solidFill>
          <a:ln w="12700">
            <a:solidFill>
              <a:srgbClr val="2A4A6B"/>
            </a:solidFill>
            <a:prstDash val="solid"/>
          </a:ln>
        </p:spPr>
      </p:sp>
      <p:sp>
        <p:nvSpPr>
          <p:cNvPr id="18" name="Text 16"/>
          <p:cNvSpPr/>
          <p:nvPr/>
        </p:nvSpPr>
        <p:spPr>
          <a:xfrm>
            <a:off x="457200" y="3547872"/>
            <a:ext cx="8229600" cy="36576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  Impacto en Ingeniería en Sistemas Computacionales</a:t>
            </a:r>
            <a:endParaRPr lang="en-US" sz="1300" dirty="0"/>
          </a:p>
        </p:txBody>
      </p:sp>
      <p:sp>
        <p:nvSpPr>
          <p:cNvPr id="19" name="Text 17"/>
          <p:cNvSpPr/>
          <p:nvPr/>
        </p:nvSpPr>
        <p:spPr>
          <a:xfrm>
            <a:off x="457200" y="3913632"/>
            <a:ext cx="8229600" cy="777240"/>
          </a:xfrm>
          <a:prstGeom prst="rect">
            <a:avLst/>
          </a:prstGeom>
          <a:noFill/>
          <a:ln/>
        </p:spPr>
        <p:txBody>
          <a:bodyPr wrap="square" rtlCol="0" anchor="t"/>
          <a:lstStyle/>
          <a:p>
            <a:pPr marL="0" indent="0">
              <a:buNone/>
            </a:pPr>
            <a:r>
              <a:rPr lang="en-US" sz="1100" dirty="0">
                <a:solidFill>
                  <a:srgbClr val="A0C4E8"/>
                </a:solidFill>
                <a:latin typeface="Calibri" pitchFamily="34" charset="0"/>
                <a:ea typeface="Calibri" pitchFamily="34" charset="-122"/>
                <a:cs typeface="Calibri" pitchFamily="34" charset="-120"/>
              </a:rPr>
              <a:t>Este proyecto demuestra habilidades reales en IA, Visión por Computadora, Cómputo en la Nube y manejo de datos — áreas clave del mercado laboral en   IA e investigación médica.</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HeaderBg"/>
          <p:cNvSpPr/>
          <p:nvPr/>
        </p:nvSpPr>
        <p:spPr>
          <a:xfrm>
            <a:off x="0" y="0"/>
            <a:ext cx="9144000" cy="822960"/>
          </a:xfrm>
          <a:prstGeom prst="rect">
            <a:avLst/>
          </a:prstGeom>
          <a:solidFill>
            <a:srgbClr val="0A1628"/>
          </a:solidFill>
        </p:spPr>
      </p:sp>
      <p:sp>
        <p:nvSpPr>
          <p:cNvPr id="3" name="Title"/>
          <p:cNvSpPr/>
          <p:nvPr/>
        </p:nvSpPr>
        <p:spPr>
          <a:xfrm>
            <a:off x="274320" y="0"/>
            <a:ext cx="8595360" cy="822960"/>
          </a:xfrm>
          <a:prstGeom prst="rect">
            <a:avLst/>
          </a:prstGeom>
          <a:noFill/>
          <a:ln/>
        </p:spPr>
        <p:txBody>
          <a:bodyPr wrap="square" rtlCol="0" anchor="ctr"/>
          <a:lstStyle/>
          <a:p>
            <a:pPr marL="0" indent="0">
              <a:buNone/>
            </a:pPr>
            <a:r>
              <a:rPr lang="en-US" sz="2000" b="1" dirty="0">
                <a:solidFill>
                  <a:srgbClr val="FFFFFF"/>
                </a:solidFill>
                <a:latin typeface="Calibri" pitchFamily="34" charset="0"/>
              </a:rPr>
              <a:t>  Metodología del Proyecto</a:t>
            </a:r>
          </a:p>
        </p:txBody>
      </p:sp>
      <p:sp>
        <p:nvSpPr>
          <p:cNvPr id="4" name="Step1Bg"/>
          <p:cNvSpPr/>
          <p:nvPr/>
        </p:nvSpPr>
        <p:spPr>
          <a:xfrm>
            <a:off x="274320" y="960120"/>
            <a:ext cx="1280160" cy="3200400"/>
          </a:xfrm>
          <a:prstGeom prst="rect">
            <a:avLst/>
          </a:prstGeom>
          <a:solidFill>
            <a:srgbClr val="0D9488"/>
          </a:solidFill>
        </p:spPr>
      </p:sp>
      <p:sp>
        <p:nvSpPr>
          <p:cNvPr id="5" name="Step1Text"/>
          <p:cNvSpPr/>
          <p:nvPr/>
        </p:nvSpPr>
        <p:spPr>
          <a:xfrm>
            <a:off x="274320" y="960120"/>
            <a:ext cx="1280160" cy="3200400"/>
          </a:xfrm>
          <a:prstGeom prst="rect">
            <a:avLst/>
          </a:prstGeom>
          <a:noFill/>
          <a:ln/>
        </p:spPr>
        <p:txBody>
          <a:bodyPr wrap="square" rtlCol="0" anchor="ctr"/>
          <a:lstStyle/>
          <a:p>
            <a:pPr algn="ctr">
              <a:buNone/>
            </a:pPr>
            <a:r>
              <a:rPr lang="en-US" sz="2400" b="1" dirty="0">
                <a:solidFill>
                  <a:srgbClr val="FFFFFF"/>
                </a:solidFill>
                <a:latin typeface="Calibri" pitchFamily="34" charset="0"/>
              </a:rPr>
              <a:t>1</a:t>
            </a:r>
          </a:p>
          <a:p>
            <a:pPr algn="ctr">
              <a:buNone/>
            </a:pPr>
            <a:r>
              <a:rPr lang="en-US" sz="1100" b="1" dirty="0">
                <a:solidFill>
                  <a:srgbClr val="FFFFFF"/>
                </a:solidFill>
                <a:latin typeface="Calibri" pitchFamily="34" charset="0"/>
              </a:rPr>
              <a:t> Dataset</a:t>
            </a:r>
          </a:p>
          <a:p>
            <a:pPr algn="ctr">
              <a:buNone/>
            </a:pPr>
            <a:r>
              <a:rPr lang="en-US" sz="900" dirty="0">
                <a:solidFill>
                  <a:srgbClr val="CCFFF9"/>
                </a:solidFill>
                <a:latin typeface="Calibri" pitchFamily="34" charset="0"/>
              </a:rPr>
              <a:t>Descargar de Kaggle y subir a Roboflow</a:t>
            </a:r>
          </a:p>
        </p:txBody>
      </p:sp>
      <p:sp>
        <p:nvSpPr>
          <p:cNvPr id="6" name="Arrow1"/>
          <p:cNvSpPr/>
          <p:nvPr/>
        </p:nvSpPr>
        <p:spPr>
          <a:xfrm>
            <a:off x="1600200" y="2217960"/>
            <a:ext cx="365760" cy="182880"/>
          </a:xfrm>
          <a:prstGeom prst="rect">
            <a:avLst/>
          </a:prstGeom>
          <a:solidFill>
            <a:srgbClr val="CBD5E1"/>
          </a:solidFill>
        </p:spPr>
        <p:txBody>
          <a:bodyPr wrap="square" rtlCol="0" anchor="ctr"/>
          <a:lstStyle/>
          <a:p>
            <a:pPr algn="ctr">
              <a:buNone/>
            </a:pPr>
            <a:r>
              <a:rPr lang="en-US" sz="1400" b="1" dirty="0">
                <a:solidFill>
                  <a:srgbClr val="475569"/>
                </a:solidFill>
                <a:latin typeface="Calibri"/>
              </a:rPr>
              <a:t>►</a:t>
            </a:r>
          </a:p>
        </p:txBody>
      </p:sp>
      <p:sp>
        <p:nvSpPr>
          <p:cNvPr id="7" name="Step2Bg"/>
          <p:cNvSpPr/>
          <p:nvPr/>
        </p:nvSpPr>
        <p:spPr>
          <a:xfrm>
            <a:off x="1966680" y="960120"/>
            <a:ext cx="1280160" cy="3200400"/>
          </a:xfrm>
          <a:prstGeom prst="rect">
            <a:avLst/>
          </a:prstGeom>
          <a:solidFill>
            <a:srgbClr val="1E6FBF"/>
          </a:solidFill>
        </p:spPr>
      </p:sp>
      <p:sp>
        <p:nvSpPr>
          <p:cNvPr id="8" name="Step2Text"/>
          <p:cNvSpPr/>
          <p:nvPr/>
        </p:nvSpPr>
        <p:spPr>
          <a:xfrm>
            <a:off x="1966680" y="960120"/>
            <a:ext cx="1280160" cy="3200400"/>
          </a:xfrm>
          <a:prstGeom prst="rect">
            <a:avLst/>
          </a:prstGeom>
          <a:noFill/>
          <a:ln/>
        </p:spPr>
        <p:txBody>
          <a:bodyPr wrap="square" rtlCol="0" anchor="ctr"/>
          <a:lstStyle/>
          <a:p>
            <a:pPr algn="ctr">
              <a:buNone/>
            </a:pPr>
            <a:r>
              <a:rPr lang="en-US" sz="2400" b="1" dirty="0">
                <a:solidFill>
                  <a:srgbClr val="FFFFFF"/>
                </a:solidFill>
                <a:latin typeface="Calibri"/>
              </a:rPr>
              <a:t>2</a:t>
            </a:r>
          </a:p>
          <a:p>
            <a:pPr algn="ctr">
              <a:buNone/>
            </a:pPr>
            <a:r>
              <a:rPr lang="en-US" sz="1100" b="1" dirty="0">
                <a:solidFill>
                  <a:srgbClr val="FFFFFF"/>
                </a:solidFill>
                <a:latin typeface="Calibri"/>
              </a:rPr>
              <a:t>Preprocesado</a:t>
            </a:r>
          </a:p>
          <a:p>
            <a:pPr algn="ctr">
              <a:buNone/>
            </a:pPr>
            <a:r>
              <a:rPr lang="en-US" sz="900" dirty="0">
                <a:solidFill>
                  <a:srgbClr val="DBEAFE"/>
                </a:solidFill>
                <a:latin typeface="Calibri"/>
              </a:rPr>
              <a:t>Etiquetado y split 70/20/10 en Roboflow</a:t>
            </a:r>
          </a:p>
        </p:txBody>
      </p:sp>
      <p:sp>
        <p:nvSpPr>
          <p:cNvPr id="9" name="Arrow2"/>
          <p:cNvSpPr/>
          <p:nvPr/>
        </p:nvSpPr>
        <p:spPr>
          <a:xfrm>
            <a:off x="3292560" y="2217960"/>
            <a:ext cx="365760" cy="182880"/>
          </a:xfrm>
          <a:prstGeom prst="rect">
            <a:avLst/>
          </a:prstGeom>
          <a:solidFill>
            <a:srgbClr val="CBD5E1"/>
          </a:solidFill>
        </p:spPr>
        <p:txBody>
          <a:bodyPr wrap="square" rtlCol="0" anchor="ctr"/>
          <a:lstStyle/>
          <a:p>
            <a:pPr algn="ctr">
              <a:buNone/>
            </a:pPr>
            <a:r>
              <a:rPr lang="en-US" sz="1400" b="1" dirty="0">
                <a:solidFill>
                  <a:srgbClr val="475569"/>
                </a:solidFill>
                <a:latin typeface="Calibri"/>
              </a:rPr>
              <a:t>►</a:t>
            </a:r>
          </a:p>
        </p:txBody>
      </p:sp>
      <p:sp>
        <p:nvSpPr>
          <p:cNvPr id="10" name="Step3Bg"/>
          <p:cNvSpPr/>
          <p:nvPr/>
        </p:nvSpPr>
        <p:spPr>
          <a:xfrm>
            <a:off x="3659040" y="960120"/>
            <a:ext cx="1280160" cy="3200400"/>
          </a:xfrm>
          <a:prstGeom prst="rect">
            <a:avLst/>
          </a:prstGeom>
          <a:solidFill>
            <a:srgbClr val="7C3AED"/>
          </a:solidFill>
        </p:spPr>
      </p:sp>
      <p:sp>
        <p:nvSpPr>
          <p:cNvPr id="11" name="Step3Text"/>
          <p:cNvSpPr/>
          <p:nvPr/>
        </p:nvSpPr>
        <p:spPr>
          <a:xfrm>
            <a:off x="3659040" y="960120"/>
            <a:ext cx="1280160" cy="3200400"/>
          </a:xfrm>
          <a:prstGeom prst="rect">
            <a:avLst/>
          </a:prstGeom>
          <a:noFill/>
          <a:ln/>
        </p:spPr>
        <p:txBody>
          <a:bodyPr wrap="square" rtlCol="0" anchor="ctr"/>
          <a:lstStyle/>
          <a:p>
            <a:pPr algn="ctr">
              <a:buNone/>
            </a:pPr>
            <a:r>
              <a:rPr lang="en-US" sz="2400" b="1" dirty="0">
                <a:solidFill>
                  <a:srgbClr val="FFFFFF"/>
                </a:solidFill>
                <a:latin typeface="Calibri"/>
              </a:rPr>
              <a:t>3</a:t>
            </a:r>
          </a:p>
          <a:p>
            <a:pPr algn="ctr">
              <a:buNone/>
            </a:pPr>
            <a:r>
              <a:rPr lang="en-US" sz="1100" b="1" dirty="0">
                <a:solidFill>
                  <a:srgbClr val="FFFFFF"/>
                </a:solidFill>
                <a:latin typeface="Calibri"/>
              </a:rPr>
              <a:t> Entrenamiento</a:t>
            </a:r>
          </a:p>
          <a:p>
            <a:pPr algn="ctr">
              <a:buNone/>
            </a:pPr>
            <a:r>
              <a:rPr lang="en-US" sz="900" dirty="0">
                <a:solidFill>
                  <a:srgbClr val="EDE9FE"/>
                </a:solidFill>
                <a:latin typeface="Calibri"/>
              </a:rPr>
              <a:t>YOLOv8 nano, small y medium en Google Colab GPU</a:t>
            </a:r>
          </a:p>
        </p:txBody>
      </p:sp>
      <p:sp>
        <p:nvSpPr>
          <p:cNvPr id="12" name="Arrow3"/>
          <p:cNvSpPr/>
          <p:nvPr/>
        </p:nvSpPr>
        <p:spPr>
          <a:xfrm>
            <a:off x="4984920" y="2217960"/>
            <a:ext cx="365760" cy="182880"/>
          </a:xfrm>
          <a:prstGeom prst="rect">
            <a:avLst/>
          </a:prstGeom>
          <a:solidFill>
            <a:srgbClr val="CBD5E1"/>
          </a:solidFill>
        </p:spPr>
        <p:txBody>
          <a:bodyPr wrap="square" rtlCol="0" anchor="ctr"/>
          <a:lstStyle/>
          <a:p>
            <a:pPr algn="ctr">
              <a:buNone/>
            </a:pPr>
            <a:r>
              <a:rPr lang="en-US" sz="1400" b="1" dirty="0">
                <a:solidFill>
                  <a:srgbClr val="475569"/>
                </a:solidFill>
                <a:latin typeface="Calibri"/>
              </a:rPr>
              <a:t>►</a:t>
            </a:r>
          </a:p>
        </p:txBody>
      </p:sp>
      <p:sp>
        <p:nvSpPr>
          <p:cNvPr id="13" name="Step4Bg"/>
          <p:cNvSpPr/>
          <p:nvPr/>
        </p:nvSpPr>
        <p:spPr>
          <a:xfrm>
            <a:off x="5351400" y="960120"/>
            <a:ext cx="1280160" cy="3200400"/>
          </a:xfrm>
          <a:prstGeom prst="rect">
            <a:avLst/>
          </a:prstGeom>
          <a:solidFill>
            <a:srgbClr val="D97706"/>
          </a:solidFill>
        </p:spPr>
      </p:sp>
      <p:sp>
        <p:nvSpPr>
          <p:cNvPr id="14" name="Step4Text"/>
          <p:cNvSpPr/>
          <p:nvPr/>
        </p:nvSpPr>
        <p:spPr>
          <a:xfrm>
            <a:off x="5351400" y="960120"/>
            <a:ext cx="1280160" cy="3200400"/>
          </a:xfrm>
          <a:prstGeom prst="rect">
            <a:avLst/>
          </a:prstGeom>
          <a:noFill/>
          <a:ln/>
        </p:spPr>
        <p:txBody>
          <a:bodyPr wrap="square" rtlCol="0" anchor="ctr"/>
          <a:lstStyle/>
          <a:p>
            <a:pPr algn="ctr">
              <a:buNone/>
            </a:pPr>
            <a:r>
              <a:rPr lang="en-US" sz="2400" b="1" dirty="0">
                <a:solidFill>
                  <a:srgbClr val="FFFFFF"/>
                </a:solidFill>
                <a:latin typeface="Calibri"/>
              </a:rPr>
              <a:t>4</a:t>
            </a:r>
          </a:p>
          <a:p>
            <a:pPr algn="ctr">
              <a:buNone/>
            </a:pPr>
            <a:r>
              <a:rPr lang="en-US" sz="1100" b="1" dirty="0">
                <a:solidFill>
                  <a:srgbClr val="FFFFFF"/>
                </a:solidFill>
                <a:latin typeface="Calibri"/>
              </a:rPr>
              <a:t> Evaluación</a:t>
            </a:r>
          </a:p>
          <a:p>
            <a:pPr algn="ctr">
              <a:buNone/>
            </a:pPr>
            <a:r>
              <a:rPr lang="en-US" sz="900" dirty="0">
                <a:solidFill>
                  <a:srgbClr val="FEF3C7"/>
                </a:solidFill>
                <a:latin typeface="Calibri"/>
              </a:rPr>
              <a:t>Métricas: mAP, precisión, recall, F1, matriz de confusión</a:t>
            </a:r>
          </a:p>
        </p:txBody>
      </p:sp>
      <p:sp>
        <p:nvSpPr>
          <p:cNvPr id="15" name="Arrow4"/>
          <p:cNvSpPr/>
          <p:nvPr/>
        </p:nvSpPr>
        <p:spPr>
          <a:xfrm>
            <a:off x="6677280" y="2217960"/>
            <a:ext cx="365760" cy="182880"/>
          </a:xfrm>
          <a:prstGeom prst="rect">
            <a:avLst/>
          </a:prstGeom>
          <a:solidFill>
            <a:srgbClr val="CBD5E1"/>
          </a:solidFill>
        </p:spPr>
        <p:txBody>
          <a:bodyPr wrap="square" rtlCol="0" anchor="ctr"/>
          <a:lstStyle/>
          <a:p>
            <a:pPr algn="ctr">
              <a:buNone/>
            </a:pPr>
            <a:r>
              <a:rPr lang="en-US" sz="1400" b="1" dirty="0">
                <a:solidFill>
                  <a:srgbClr val="475569"/>
                </a:solidFill>
                <a:latin typeface="Calibri"/>
              </a:rPr>
              <a:t>►</a:t>
            </a:r>
          </a:p>
        </p:txBody>
      </p:sp>
      <p:sp>
        <p:nvSpPr>
          <p:cNvPr id="16" name="Step5Bg"/>
          <p:cNvSpPr/>
          <p:nvPr/>
        </p:nvSpPr>
        <p:spPr>
          <a:xfrm>
            <a:off x="7043760" y="960120"/>
            <a:ext cx="1280160" cy="3200400"/>
          </a:xfrm>
          <a:prstGeom prst="rect">
            <a:avLst/>
          </a:prstGeom>
          <a:solidFill>
            <a:srgbClr val="DC2626"/>
          </a:solidFill>
        </p:spPr>
      </p:sp>
      <p:sp>
        <p:nvSpPr>
          <p:cNvPr id="17" name="Step5Text"/>
          <p:cNvSpPr/>
          <p:nvPr/>
        </p:nvSpPr>
        <p:spPr>
          <a:xfrm>
            <a:off x="7043760" y="960120"/>
            <a:ext cx="1280160" cy="3200400"/>
          </a:xfrm>
          <a:prstGeom prst="rect">
            <a:avLst/>
          </a:prstGeom>
          <a:noFill/>
          <a:ln/>
        </p:spPr>
        <p:txBody>
          <a:bodyPr wrap="square" rtlCol="0" anchor="ctr"/>
          <a:lstStyle/>
          <a:p>
            <a:pPr algn="ctr">
              <a:buNone/>
            </a:pPr>
            <a:r>
              <a:rPr lang="en-US" sz="2400" b="1" dirty="0">
                <a:solidFill>
                  <a:srgbClr val="FFFFFF"/>
                </a:solidFill>
                <a:latin typeface="Calibri"/>
              </a:rPr>
              <a:t>5</a:t>
            </a:r>
          </a:p>
          <a:p>
            <a:pPr algn="ctr">
              <a:buNone/>
            </a:pPr>
            <a:r>
              <a:rPr lang="en-US" sz="1100" b="1" dirty="0">
                <a:solidFill>
                  <a:srgbClr val="FFFFFF"/>
                </a:solidFill>
                <a:latin typeface="Calibri"/>
              </a:rPr>
              <a:t> Inferencia</a:t>
            </a:r>
          </a:p>
          <a:p>
            <a:pPr algn="ctr">
              <a:buNone/>
            </a:pPr>
            <a:r>
              <a:rPr lang="en-US" sz="900" dirty="0">
                <a:solidFill>
                  <a:srgbClr val="FEE2E2"/>
                </a:solidFill>
                <a:latin typeface="Calibri"/>
              </a:rPr>
              <a:t>Prueba con imagen MRI nueva, bounding box y confianza</a:t>
            </a:r>
          </a:p>
        </p:txBody>
      </p:sp>
      <p:sp>
        <p:nvSpPr>
          <p:cNvPr id="18" name="ToolsBar"/>
          <p:cNvSpPr/>
          <p:nvPr/>
        </p:nvSpPr>
        <p:spPr>
          <a:xfrm>
            <a:off x="369570" y="4491720"/>
            <a:ext cx="8595360" cy="548640"/>
          </a:xfrm>
          <a:prstGeom prst="rect">
            <a:avLst/>
          </a:prstGeom>
          <a:solidFill>
            <a:srgbClr val="1A3A5C"/>
          </a:solidFill>
        </p:spPr>
        <p:txBody>
          <a:bodyPr wrap="square" rtlCol="0" anchor="ctr"/>
          <a:lstStyle/>
          <a:p>
            <a:pPr algn="ctr">
              <a:buNone/>
            </a:pPr>
            <a:endParaRPr lang="en-US" sz="1100" dirty="0">
              <a:solidFill>
                <a:srgbClr val="FFFFFF"/>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HeaderBg"/>
          <p:cNvSpPr/>
          <p:nvPr/>
        </p:nvSpPr>
        <p:spPr>
          <a:xfrm>
            <a:off x="0" y="0"/>
            <a:ext cx="9144000" cy="822960"/>
          </a:xfrm>
          <a:prstGeom prst="rect">
            <a:avLst/>
          </a:prstGeom>
          <a:solidFill>
            <a:srgbClr val="0A1628"/>
          </a:solidFill>
        </p:spPr>
      </p:sp>
      <p:sp>
        <p:nvSpPr>
          <p:cNvPr id="3" name="Title"/>
          <p:cNvSpPr/>
          <p:nvPr/>
        </p:nvSpPr>
        <p:spPr>
          <a:xfrm>
            <a:off x="274320" y="0"/>
            <a:ext cx="8595360" cy="822960"/>
          </a:xfrm>
          <a:prstGeom prst="rect">
            <a:avLst/>
          </a:prstGeom>
          <a:noFill/>
          <a:ln/>
        </p:spPr>
        <p:txBody>
          <a:bodyPr wrap="square" rtlCol="0" anchor="ctr"/>
          <a:lstStyle/>
          <a:p>
            <a:pPr marL="0" indent="0">
              <a:buNone/>
            </a:pPr>
            <a:r>
              <a:rPr lang="en-US" sz="2000" b="1" dirty="0">
                <a:solidFill>
                  <a:srgbClr val="FFFFFF"/>
                </a:solidFill>
                <a:latin typeface="Calibri" pitchFamily="34" charset="0"/>
              </a:rPr>
              <a:t>  Posibles Errores del Modelo y Futuras Mejoras</a:t>
            </a:r>
          </a:p>
        </p:txBody>
      </p:sp>
      <p:sp>
        <p:nvSpPr>
          <p:cNvPr id="4" name="ErrBg"/>
          <p:cNvSpPr/>
          <p:nvPr/>
        </p:nvSpPr>
        <p:spPr>
          <a:xfrm>
            <a:off x="274320" y="960120"/>
            <a:ext cx="4115880" cy="3886200"/>
          </a:xfrm>
          <a:prstGeom prst="rect">
            <a:avLst/>
          </a:prstGeom>
          <a:solidFill>
            <a:srgbClr val="F1F5F9"/>
          </a:solidFill>
          <a:ln w="12700">
            <a:solidFill>
              <a:srgbClr val="E2E8F0"/>
            </a:solidFill>
          </a:ln>
        </p:spPr>
      </p:sp>
      <p:sp>
        <p:nvSpPr>
          <p:cNvPr id="5" name="ErrHeader"/>
          <p:cNvSpPr/>
          <p:nvPr/>
        </p:nvSpPr>
        <p:spPr>
          <a:xfrm>
            <a:off x="274320" y="960120"/>
            <a:ext cx="4115880" cy="457200"/>
          </a:xfrm>
          <a:prstGeom prst="rect">
            <a:avLst/>
          </a:prstGeom>
          <a:solidFill>
            <a:srgbClr val="DC2626"/>
          </a:solidFill>
        </p:spPr>
        <p:txBody>
          <a:bodyPr wrap="square" rtlCol="0" anchor="ctr"/>
          <a:lstStyle/>
          <a:p>
            <a:pPr algn="ctr">
              <a:buNone/>
            </a:pPr>
            <a:r>
              <a:rPr lang="en-US" sz="1400" b="1" dirty="0">
                <a:solidFill>
                  <a:srgbClr val="FFFFFF"/>
                </a:solidFill>
                <a:latin typeface="Calibri"/>
              </a:rPr>
              <a:t>  Posibles Errores del Modelo</a:t>
            </a:r>
          </a:p>
        </p:txBody>
      </p:sp>
      <p:sp>
        <p:nvSpPr>
          <p:cNvPr id="6" name="ErrContent"/>
          <p:cNvSpPr/>
          <p:nvPr/>
        </p:nvSpPr>
        <p:spPr>
          <a:xfrm>
            <a:off x="411480" y="1463040"/>
            <a:ext cx="3840840" cy="3200400"/>
          </a:xfrm>
          <a:prstGeom prst="rect">
            <a:avLst/>
          </a:prstGeom>
          <a:noFill/>
          <a:ln/>
        </p:spPr>
        <p:txBody>
          <a:bodyPr wrap="square" rtlCol="0" anchor="t"/>
          <a:lstStyle/>
          <a:p>
            <a:pPr marL="0" indent="0">
              <a:buNone/>
            </a:pPr>
            <a:r>
              <a:rPr lang="en-US" sz="1200" b="1" dirty="0">
                <a:solidFill>
                  <a:srgbClr val="DC2626"/>
                </a:solidFill>
                <a:latin typeface="Calibri"/>
              </a:rPr>
              <a:t> Falso </a:t>
            </a:r>
            <a:r>
              <a:rPr lang="en-US" sz="1200" b="1" dirty="0" err="1">
                <a:solidFill>
                  <a:srgbClr val="DC2626"/>
                </a:solidFill>
                <a:latin typeface="Calibri"/>
              </a:rPr>
              <a:t>Negativo</a:t>
            </a:r>
            <a:r>
              <a:rPr lang="en-US" sz="1200" b="1" dirty="0">
                <a:solidFill>
                  <a:srgbClr val="DC2626"/>
                </a:solidFill>
                <a:latin typeface="Calibri"/>
              </a:rPr>
              <a:t> </a:t>
            </a:r>
          </a:p>
          <a:p>
            <a:pPr marL="0" indent="0">
              <a:buNone/>
            </a:pPr>
            <a:r>
              <a:rPr lang="en-US" sz="1100" dirty="0">
                <a:solidFill>
                  <a:srgbClr val="475569"/>
                </a:solidFill>
                <a:latin typeface="Calibri"/>
              </a:rPr>
              <a:t>Hay tumor pero el modelo dice que no. El paciente no recibiría tratamiento.</a:t>
            </a:r>
          </a:p>
          <a:p>
            <a:pPr>
              <a:buNone/>
            </a:pPr>
            <a:endParaRPr lang="en-US" sz="1100" dirty="0"/>
          </a:p>
          <a:p>
            <a:pPr marL="0" indent="0">
              <a:buNone/>
            </a:pPr>
            <a:r>
              <a:rPr lang="en-US" sz="1200" b="1" dirty="0">
                <a:solidFill>
                  <a:srgbClr val="D97706"/>
                </a:solidFill>
                <a:latin typeface="Calibri"/>
              </a:rPr>
              <a:t> Falso Positivo</a:t>
            </a:r>
          </a:p>
          <a:p>
            <a:pPr marL="0" indent="0">
              <a:buNone/>
            </a:pPr>
            <a:r>
              <a:rPr lang="en-US" sz="1100" dirty="0">
                <a:solidFill>
                  <a:srgbClr val="475569"/>
                </a:solidFill>
                <a:latin typeface="Calibri"/>
              </a:rPr>
              <a:t>No hay tumor pero el modelo dice que sí. Genera alarma innecesaria y más estudios.</a:t>
            </a:r>
          </a:p>
          <a:p>
            <a:pPr>
              <a:buNone/>
            </a:pPr>
            <a:endParaRPr lang="en-US" sz="1100" dirty="0"/>
          </a:p>
          <a:p>
            <a:pPr marL="0" indent="0">
              <a:buNone/>
            </a:pPr>
            <a:r>
              <a:rPr lang="en-US" sz="1200" b="1" dirty="0">
                <a:solidFill>
                  <a:srgbClr val="7C3AED"/>
                </a:solidFill>
                <a:latin typeface="Calibri"/>
              </a:rPr>
              <a:t> Sobreajuste (Overfitting)</a:t>
            </a:r>
          </a:p>
          <a:p>
            <a:pPr marL="0" indent="0">
              <a:buNone/>
            </a:pPr>
            <a:r>
              <a:rPr lang="en-US" sz="1100" dirty="0">
                <a:solidFill>
                  <a:srgbClr val="475569"/>
                </a:solidFill>
                <a:latin typeface="Calibri"/>
              </a:rPr>
              <a:t>El modelo aprendió el dataset de memoria pero falla con imágenes nuevas. Pasó con YOLOv8m.</a:t>
            </a:r>
          </a:p>
        </p:txBody>
      </p:sp>
      <p:sp>
        <p:nvSpPr>
          <p:cNvPr id="7" name="MejBg"/>
          <p:cNvSpPr/>
          <p:nvPr/>
        </p:nvSpPr>
        <p:spPr>
          <a:xfrm>
            <a:off x="4663920" y="960120"/>
            <a:ext cx="4115880" cy="3886200"/>
          </a:xfrm>
          <a:prstGeom prst="rect">
            <a:avLst/>
          </a:prstGeom>
          <a:solidFill>
            <a:srgbClr val="F1F5F9"/>
          </a:solidFill>
          <a:ln w="12700">
            <a:solidFill>
              <a:srgbClr val="E2E8F0"/>
            </a:solidFill>
          </a:ln>
        </p:spPr>
      </p:sp>
      <p:sp>
        <p:nvSpPr>
          <p:cNvPr id="8" name="MejHeader"/>
          <p:cNvSpPr/>
          <p:nvPr/>
        </p:nvSpPr>
        <p:spPr>
          <a:xfrm>
            <a:off x="4663920" y="960120"/>
            <a:ext cx="4115880" cy="457200"/>
          </a:xfrm>
          <a:prstGeom prst="rect">
            <a:avLst/>
          </a:prstGeom>
          <a:solidFill>
            <a:srgbClr val="0D9488"/>
          </a:solidFill>
        </p:spPr>
        <p:txBody>
          <a:bodyPr wrap="square" rtlCol="0" anchor="ctr"/>
          <a:lstStyle/>
          <a:p>
            <a:pPr algn="ctr">
              <a:buNone/>
            </a:pPr>
            <a:r>
              <a:rPr lang="en-US" sz="1400" b="1" dirty="0">
                <a:solidFill>
                  <a:srgbClr val="FFFFFF"/>
                </a:solidFill>
                <a:latin typeface="Calibri"/>
              </a:rPr>
              <a:t>  Futuras Mejoras</a:t>
            </a:r>
          </a:p>
        </p:txBody>
      </p:sp>
      <p:sp>
        <p:nvSpPr>
          <p:cNvPr id="9" name="MejContent"/>
          <p:cNvSpPr/>
          <p:nvPr/>
        </p:nvSpPr>
        <p:spPr>
          <a:xfrm>
            <a:off x="4801080" y="1463040"/>
            <a:ext cx="3840840" cy="3200400"/>
          </a:xfrm>
          <a:prstGeom prst="rect">
            <a:avLst/>
          </a:prstGeom>
          <a:noFill/>
          <a:ln/>
        </p:spPr>
        <p:txBody>
          <a:bodyPr wrap="square" rtlCol="0" anchor="t"/>
          <a:lstStyle/>
          <a:p>
            <a:pPr marL="0" indent="0">
              <a:buNone/>
            </a:pPr>
            <a:r>
              <a:rPr lang="en-US" sz="1200" b="1" dirty="0">
                <a:solidFill>
                  <a:srgbClr val="0D9488"/>
                </a:solidFill>
                <a:latin typeface="Calibri"/>
              </a:rPr>
              <a:t>Más imágenes en el dataset</a:t>
            </a:r>
          </a:p>
          <a:p>
            <a:pPr marL="0" indent="0">
              <a:buNone/>
            </a:pPr>
            <a:r>
              <a:rPr lang="en-US" sz="1100" dirty="0">
                <a:solidFill>
                  <a:srgbClr val="475569"/>
                </a:solidFill>
                <a:latin typeface="Calibri"/>
              </a:rPr>
              <a:t>Con más de 5,000 imágenes el modelo aprendería mejor y reduciría errores.</a:t>
            </a:r>
          </a:p>
          <a:p>
            <a:pPr>
              <a:buNone/>
            </a:pPr>
            <a:endParaRPr lang="en-US" sz="1100" dirty="0"/>
          </a:p>
          <a:p>
            <a:pPr marL="0" indent="0">
              <a:buNone/>
            </a:pPr>
            <a:r>
              <a:rPr lang="en-US" sz="1200" b="1" dirty="0">
                <a:solidFill>
                  <a:srgbClr val="1E6FBF"/>
                </a:solidFill>
                <a:latin typeface="Calibri"/>
              </a:rPr>
              <a:t> Aumento de datos</a:t>
            </a:r>
          </a:p>
          <a:p>
            <a:pPr marL="0" indent="0">
              <a:buNone/>
            </a:pPr>
            <a:r>
              <a:rPr lang="en-US" sz="1100" dirty="0">
                <a:solidFill>
                  <a:srgbClr val="475569"/>
                </a:solidFill>
                <a:latin typeface="Calibri"/>
              </a:rPr>
              <a:t>Rotar, voltear y ajustar brillo en las imágenes para que el modelo sea más robusto.</a:t>
            </a:r>
          </a:p>
          <a:p>
            <a:pPr>
              <a:buNone/>
            </a:pPr>
            <a:endParaRPr lang="en-US" sz="1100" dirty="0"/>
          </a:p>
          <a:p>
            <a:pPr marL="0" indent="0">
              <a:buNone/>
            </a:pPr>
            <a:r>
              <a:rPr lang="en-US" sz="1200" b="1" dirty="0">
                <a:solidFill>
                  <a:srgbClr val="7C3AED"/>
                </a:solidFill>
                <a:latin typeface="Calibri"/>
              </a:rPr>
              <a:t>Modelo en producción</a:t>
            </a:r>
          </a:p>
          <a:p>
            <a:pPr marL="0" indent="0">
              <a:buNone/>
            </a:pPr>
            <a:r>
              <a:rPr lang="en-US" sz="1100" dirty="0">
                <a:solidFill>
                  <a:srgbClr val="475569"/>
                </a:solidFill>
                <a:latin typeface="Calibri"/>
              </a:rPr>
              <a:t>Subir el modelo a una app web o API para que cualquier médico lo use en el navegador.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360</TotalTime>
  <Words>1087</Words>
  <Application>Microsoft Office PowerPoint</Application>
  <PresentationFormat>Presentación en pantalla (16:9)</PresentationFormat>
  <Paragraphs>202</Paragraphs>
  <Slides>12</Slides>
  <Notes>10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12</vt:i4>
      </vt:variant>
    </vt:vector>
  </HeadingPairs>
  <TitlesOfParts>
    <vt:vector size="15"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Sandra Moctezuma Monico</cp:lastModifiedBy>
  <cp:revision>19</cp:revision>
  <dcterms:created xsi:type="dcterms:W3CDTF">2026-05-31T21:02:41Z</dcterms:created>
  <dcterms:modified xsi:type="dcterms:W3CDTF">2026-06-02T21:46:23Z</dcterms:modified>
</cp:coreProperties>
</file>